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1cc89c087d4644" /><Relationship Type="http://schemas.openxmlformats.org/officeDocument/2006/relationships/extended-properties" Target="/docProps/app.xml" Id="R8f50db89d27d430a" /><Relationship Type="http://schemas.openxmlformats.org/officeDocument/2006/relationships/officeDocument" Target="/ppt/presentation.xml" Id="R4d533170cf4a40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acb53d204f433e"/>
  </p:sldMasterIdLst>
  <p:notesMasterIdLst>
    <p:notesMasterId xmlns:r="http://schemas.openxmlformats.org/officeDocument/2006/relationships" r:id="R0af7e6632d36495f"/>
  </p:notesMasterIdLst>
  <p:sldIdLst>
    <p:sldId xmlns:r="http://schemas.openxmlformats.org/officeDocument/2006/relationships" id="256" r:id="Rb8d85d2e025d412f"/>
    <p:sldId xmlns:r="http://schemas.openxmlformats.org/officeDocument/2006/relationships" id="257" r:id="Rb5db4d3009c04f9c"/>
    <p:sldId xmlns:r="http://schemas.openxmlformats.org/officeDocument/2006/relationships" id="258" r:id="R64d22e19d1c64265"/>
    <p:sldId xmlns:r="http://schemas.openxmlformats.org/officeDocument/2006/relationships" id="259" r:id="Rd89399b54e244ba6"/>
    <p:sldId xmlns:r="http://schemas.openxmlformats.org/officeDocument/2006/relationships" id="260" r:id="Rb2cccc13e7634d65"/>
    <p:sldId xmlns:r="http://schemas.openxmlformats.org/officeDocument/2006/relationships" id="261" r:id="Re08b964a145748c8"/>
    <p:sldId xmlns:r="http://schemas.openxmlformats.org/officeDocument/2006/relationships" id="262" r:id="R9cb0e3adddd64efa"/>
    <p:sldId xmlns:r="http://schemas.openxmlformats.org/officeDocument/2006/relationships" id="263" r:id="R364c266a5f4e496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887d6203c1429f" /><Relationship Type="http://schemas.openxmlformats.org/officeDocument/2006/relationships/slideMaster" Target="/ppt/slideMasters/slideMaster1.xml" Id="R6cacb53d204f433e" /><Relationship Type="http://schemas.openxmlformats.org/officeDocument/2006/relationships/notesMaster" Target="/ppt/notesMasters/notesMaster1.xml" Id="R0af7e6632d36495f" /><Relationship Type="http://schemas.openxmlformats.org/officeDocument/2006/relationships/presProps" Target="/ppt/presProps.xml" Id="R44a591b1126042a5" /><Relationship Type="http://schemas.openxmlformats.org/officeDocument/2006/relationships/tableStyles" Target="/ppt/tableStyles.xml" Id="Ra299a7d504044b28" /><Relationship Type="http://schemas.openxmlformats.org/officeDocument/2006/relationships/slide" Target="/ppt/slides/slide1.xml" Id="Rb8d85d2e025d412f" /><Relationship Type="http://schemas.openxmlformats.org/officeDocument/2006/relationships/slide" Target="/ppt/slides/slide2.xml" Id="Rb5db4d3009c04f9c" /><Relationship Type="http://schemas.openxmlformats.org/officeDocument/2006/relationships/slide" Target="/ppt/slides/slide3.xml" Id="R64d22e19d1c64265" /><Relationship Type="http://schemas.openxmlformats.org/officeDocument/2006/relationships/slide" Target="/ppt/slides/slide4.xml" Id="Rd89399b54e244ba6" /><Relationship Type="http://schemas.openxmlformats.org/officeDocument/2006/relationships/slide" Target="/ppt/slides/slide5.xml" Id="Rb2cccc13e7634d65" /><Relationship Type="http://schemas.openxmlformats.org/officeDocument/2006/relationships/slide" Target="/ppt/slides/slide6.xml" Id="Re08b964a145748c8" /><Relationship Type="http://schemas.openxmlformats.org/officeDocument/2006/relationships/slide" Target="/ppt/slides/slide7.xml" Id="R9cb0e3adddd64efa" /><Relationship Type="http://schemas.openxmlformats.org/officeDocument/2006/relationships/slide" Target="/ppt/slides/slide8.xml" Id="R364c266a5f4e49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8e672a499243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3eae6a186b4022" /><Relationship Type="http://schemas.openxmlformats.org/officeDocument/2006/relationships/notesMaster" Target="/ppt/notesMasters/notesMaster1.xml" Id="R94f895c3cd59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68757ca91a44a5" /><Relationship Type="http://schemas.openxmlformats.org/officeDocument/2006/relationships/notesMaster" Target="/ppt/notesMasters/notesMaster1.xml" Id="Re61f4378303646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80cb21794f424a" /><Relationship Type="http://schemas.openxmlformats.org/officeDocument/2006/relationships/notesMaster" Target="/ppt/notesMasters/notesMaster1.xml" Id="Rfec241b627164b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e525dc04e34a57" /><Relationship Type="http://schemas.openxmlformats.org/officeDocument/2006/relationships/notesMaster" Target="/ppt/notesMasters/notesMaster1.xml" Id="Rad03cdc0760840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0a439bb5614285" /><Relationship Type="http://schemas.openxmlformats.org/officeDocument/2006/relationships/notesMaster" Target="/ppt/notesMasters/notesMaster1.xml" Id="R72bde651feda43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aa1219c285a4e7c" /><Relationship Type="http://schemas.openxmlformats.org/officeDocument/2006/relationships/notesMaster" Target="/ppt/notesMasters/notesMaster1.xml" Id="R17a838ad4fe343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ed70092b104de6" /><Relationship Type="http://schemas.openxmlformats.org/officeDocument/2006/relationships/notesMaster" Target="/ppt/notesMasters/notesMaster1.xml" Id="Rc31817635b634a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f73039b80045c6" /><Relationship Type="http://schemas.openxmlformats.org/officeDocument/2006/relationships/notesMaster" Target="/ppt/notesMasters/notesMaster1.xml" Id="Rb0af73629ff442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00:15</a:t>
            </a:r>
          </a:p>
          <a:p xmlns:a="http://schemas.openxmlformats.org/drawingml/2006/main">
            <a:r>
              <a:t>Notas de fala: Apresente o nome MelodIA e a promessa: uma conversa simples que leva a sugestões verificáveis.</a:t>
            </a:r>
          </a:p>
          <a:p xmlns:a="http://schemas.openxmlformats.org/drawingml/2006/main">
            <a:r>
              <a:t>Fontes: docs/apresentacao/ROTEIRO_PITCH.md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00:35</a:t>
            </a:r>
          </a:p>
          <a:p xmlns:a="http://schemas.openxmlformats.org/drawingml/2006/main">
            <a:r>
              <a:t>Notas de fala: Parta do pedido cotidiano e mostre três atritos: procurar, confiar e entender.</a:t>
            </a:r>
          </a:p>
          <a:p xmlns:a="http://schemas.openxmlformats.org/drawingml/2006/main">
            <a:r>
              <a:t>Fontes: analise_mercado_streaming/RELATORIO.md; docs/apresentacao/ROTEIRO_PITCH.md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00:40</a:t>
            </a:r>
          </a:p>
          <a:p xmlns:a="http://schemas.openxmlformats.org/drawingml/2006/main">
            <a:r>
              <a:t>Notas de fala: Compare 14,1% no Brasil com 6,4% no mundo e conecte crescimento com descoberta.</a:t>
            </a:r>
          </a:p>
          <a:p xmlns:a="http://schemas.openxmlformats.org/drawingml/2006/main">
            <a:r>
              <a:t>Fontes: Pro-Música Brasil, Mercado Brasileiro de Música 2025; IFPI Global Music Report 2026; analise_mercado_streaming/RELATORIO.md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00:45</a:t>
            </a:r>
          </a:p>
          <a:p xmlns:a="http://schemas.openxmlformats.org/drawingml/2006/main">
            <a:r>
              <a:t>Notas de fala: Explique os quatro passos sem jargão e destaque que a conversa é a entrada, não a fonte das músicas.</a:t>
            </a:r>
          </a:p>
          <a:p xmlns:a="http://schemas.openxmlformats.org/drawingml/2006/main">
            <a:r>
              <a:t>Fontes: agente_conversacional/main.py; agente_conversacional/recomendacao/busca.py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00:35</a:t>
            </a:r>
          </a:p>
          <a:p xmlns:a="http://schemas.openxmlformats.org/drawingml/2006/main">
            <a:r>
              <a:t>Notas de fala: Contraste o núcleo determinístico com o apoio opcional do LLM. Reforce: o catálogo é a fonte da verdade.</a:t>
            </a:r>
          </a:p>
          <a:p xmlns:a="http://schemas.openxmlformats.org/drawingml/2006/main">
            <a:r>
              <a:t>Fontes: docs/PIPELINE_AGENTE_PROPOSTA_B.md; agente_conversacional/interpretacao.py; agente_conversacional/recomendacao/busca.py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00:35</a:t>
            </a:r>
          </a:p>
          <a:p xmlns:a="http://schemas.openxmlformats.org/drawingml/2006/main">
            <a:r>
              <a:t>Notas de fala: Diferencie registros, faixas únicas e repetições. Diga que a análise de mercado é de agosto e o conjunto processado foi atualizado depois.</a:t>
            </a:r>
          </a:p>
          <a:p xmlns:a="http://schemas.openxmlformats.org/drawingml/2006/main">
            <a:r>
              <a:t>Fontes: data/analytics/dataset_profile.json; analise_exploratoria.ipynb; analise_mercado_streaming/RELATORIO.md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01:05</a:t>
            </a:r>
          </a:p>
          <a:p xmlns:a="http://schemas.openxmlformats.org/drawingml/2006/main">
            <a:r>
              <a:t>Notas de fala: Digite o cenário combinado, mostre as faixas e explique por que a resposta continua funcionando sem LLM e sem Spotify.</a:t>
            </a:r>
          </a:p>
          <a:p xmlns:a="http://schemas.openxmlformats.org/drawingml/2006/main">
            <a:r>
              <a:t>Fontes: docs/apresentacao/ENSAIO_GERAL.md; docs/apresentacao/video/GUIA_GRAVACAO.md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00:30</a:t>
            </a:r>
          </a:p>
          <a:p xmlns:a="http://schemas.openxmlformats.org/drawingml/2006/main">
            <a:r>
              <a:t>Notas de fala: Retome os três diferenciais, apresente a evolução pretendida e encerre com uma frase curta.</a:t>
            </a:r>
          </a:p>
          <a:p xmlns:a="http://schemas.openxmlformats.org/drawingml/2006/main">
            <a:r>
              <a:t>Fontes: analise_mercado_streaming/RELATORIO.md; docs/apresentacao/ROTEIRO_PITCH.md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a268feda4d49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48543541254c86" /><Relationship Type="http://schemas.openxmlformats.org/officeDocument/2006/relationships/slideLayout" Target="/ppt/slideLayouts/slideLayout1.xml" Id="Rd0f5922c5ae340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f5922c5ae340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479ea8e864900" /><Relationship Type="http://schemas.openxmlformats.org/officeDocument/2006/relationships/notesSlide" Target="/ppt/notesSlides/notesSlide1.xml" Id="Rc82a04aa5b3d45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90427ae2f4d6a" /><Relationship Type="http://schemas.openxmlformats.org/officeDocument/2006/relationships/notesSlide" Target="/ppt/notesSlides/notesSlide2.xml" Id="Ra541e2d0b8244a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07825f9214d66" /><Relationship Type="http://schemas.openxmlformats.org/officeDocument/2006/relationships/chart" Target="/ppt/slides/charts/chart1.xml" Id="R81583456ddf844d4" /><Relationship Type="http://schemas.openxmlformats.org/officeDocument/2006/relationships/notesSlide" Target="/ppt/notesSlides/notesSlide3.xml" Id="Rdc34dfa5d73041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b96f89bc44f78" /><Relationship Type="http://schemas.openxmlformats.org/officeDocument/2006/relationships/notesSlide" Target="/ppt/notesSlides/notesSlide4.xml" Id="R351a7332624e41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f00581680443ad" /><Relationship Type="http://schemas.openxmlformats.org/officeDocument/2006/relationships/notesSlide" Target="/ppt/notesSlides/notesSlide5.xml" Id="R86bc7854d1e446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6a30acef44c7d" /><Relationship Type="http://schemas.openxmlformats.org/officeDocument/2006/relationships/chart" Target="/ppt/slides/charts/chart2.xml" Id="Re454a9a534f244cf" /><Relationship Type="http://schemas.openxmlformats.org/officeDocument/2006/relationships/notesSlide" Target="/ppt/notesSlides/notesSlide6.xml" Id="Rdf01be156ea848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bd37f03b54950" /><Relationship Type="http://schemas.openxmlformats.org/officeDocument/2006/relationships/notesSlide" Target="/ppt/notesSlides/notesSlide7.xml" Id="Rb53d7b50bdbd45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ec7259c76e480b" /><Relationship Type="http://schemas.openxmlformats.org/officeDocument/2006/relationships/notesSlide" Target="/ppt/notesSlides/notesSlide8.xml" Id="R7bd5d1e9a37941e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Crescimento em 2024</c:v>
          </c:tx>
          <c:spPr>
            <a:solidFill xmlns:a="http://schemas.openxmlformats.org/drawingml/2006/main">
              <a:srgbClr val="2A78D6"/>
            </a:solidFill>
          </c:spPr>
          <c:cat>
            <c:strRef>
              <c:f>'Chart Data'!$A$2:$A$3</c:f>
              <c:strCache>
                <c:ptCount val="2"/>
                <c:pt idx="0">
                  <c:v>Brasil</c:v>
                </c:pt>
                <c:pt idx="1">
                  <c:v>Mundo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14.1</c:v>
                </c:pt>
                <c:pt idx="1">
                  <c:v>6.4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Quantidade</c:v>
          </c:tx>
          <c:spPr>
            <a:solidFill xmlns:a="http://schemas.openxmlformats.org/drawingml/2006/main">
              <a:srgbClr val="2A78D6"/>
            </a:solidFill>
          </c:spPr>
          <c:cat>
            <c:strRef>
              <c:f>'Chart Data'!$A$2:$A$4</c:f>
              <c:strCache>
                <c:ptCount val="3"/>
                <c:pt idx="0">
                  <c:v>Registros</c:v>
                </c:pt>
                <c:pt idx="1">
                  <c:v>Faixas únicas</c:v>
                </c:pt>
                <c:pt idx="2">
                  <c:v>Repetições entre gêneros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128830</c:v>
                </c:pt>
                <c:pt idx="1">
                  <c:v>97534</c:v>
                </c:pt>
                <c:pt idx="2">
                  <c:v>31296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5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D3631C-3511-4FDB-9D86-1076C8BD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143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FC2C88-646D-4079-9D94-6BB40729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000125"/>
            <a:ext cx="8858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370"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MelodIA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E0ED9-8F33-4DA8-97CE-F0EB0A54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52625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C56A"/>
                </a:solidFill>
                <a:latin typeface="Arial"/>
                <a:ea typeface="Arial"/>
                <a:cs typeface="Arial"/>
              </a:rPr>
              <a:t>Agente de Recomendação Musical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73391-DB5C-41BF-9583-25B1A24B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8858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Peça com suas palavras.</a:t>
            </a:r>
          </a:p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Receba faixas reais e uma explicação simples.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BD4E7-A5FC-46BE-A8F0-2EF8BDF0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62500"/>
            <a:ext cx="1809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13F32-1CE6-44B2-A147-887CD548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791075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PITCH · 5 MIN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80A53C-EE67-4D49-9A13-7E5437AB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8578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C7C2B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7C2B8"/>
                </a:solidFill>
                <a:latin typeface="Arial"/>
                <a:ea typeface="Arial"/>
                <a:cs typeface="Arial"/>
              </a:rPr>
              <a:t>Grupo 8</a:t>
            </a:r>
          </a:p>
        </p:txBody>
      </p:sp>
    </p:spTree>
    <p:extLst>
      <p:ext uri="{BB962C8B-B14F-4D97-AF65-F5344CB8AC3E}">
        <p14:creationId xmlns:p14="http://schemas.microsoft.com/office/powerpoint/2010/main" val="14447961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94F91A-C0E8-4435-8551-230BD48D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O PROBLEMA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ECF89E-3C9F-4F70-A248-AFE2AFC0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Descobrir música não deveria virar trabalho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8030F-AFB3-4720-B766-55306560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CF4D1-C1A7-4020-8AC0-1DED6AA2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24000"/>
            <a:ext cx="1005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“Quero um pagode animado para hoje.”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40553-052F-4313-9D67-146EB6F0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33337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9F63E-E01E-4070-A97F-F77333DB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0375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Filtros demais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BD60D3-538D-4F43-A0BE-4454B82A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8003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A intenção humana não cabe bem em menus.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16997-F4CE-4618-840E-D2E10940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762250"/>
            <a:ext cx="33337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DCEBFA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3DB3D2-9674-4245-B16C-6C6916C89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00375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Pouca confiança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A1DAB-8380-4402-8100-20F6EC9E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524250"/>
            <a:ext cx="28003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Uma sugestão inventada quebra a experiência.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009A7-FDDA-475E-85CF-166675B6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62250"/>
            <a:ext cx="333375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E7BB0-76B0-482E-8341-0AB8AC89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00375"/>
            <a:ext cx="2800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Pouca explicação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D66A0-49DC-44D8-A8B5-4E0D86B8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24250"/>
            <a:ext cx="28003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O usuário quer entender por que recebeu aquela faixa.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30504B-AB4D-4993-8862-C98DB6CE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91125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O espaço em branco entre intenção e catálogo é onde o MelodIA atua.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63485-B648-4CE6-B1A7-8286B59A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MelodIA · descoberta por conversa</a:t>
            </a:r>
          </a:p>
        </p:txBody>
      </p:sp>
    </p:spTree>
    <p:extLst>
      <p:ext uri="{BB962C8B-B14F-4D97-AF65-F5344CB8AC3E}">
        <p14:creationId xmlns:p14="http://schemas.microsoft.com/office/powerpoint/2010/main" val="16078085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67C4D6-093C-401F-B4BF-E2850467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MERCADO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6CF8F7-175E-4C8C-97E7-0246DC2F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O streaming ainda cresce — e o Brasil acelera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BE701F-78B9-49D1-A019-BF2E236C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666750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583456ddf844d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27205-4D8F-434B-89DF-393E2A4E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71650"/>
            <a:ext cx="3333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17150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1D7B92-E77F-4D4E-9453-29D2B662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7645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#8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28D15B-80BB-4AE2-AB2A-C646FB44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48000"/>
            <a:ext cx="257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795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Brasil no ranking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mundial de receitas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F9BA5-C604-485F-A1C9-DC4A3F155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435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531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A oportunidade não é mais ter acesso.</a:t>
            </a:r>
          </a:p>
          <a:p xmlns:a="http://schemas.openxmlformats.org/drawingml/2006/main">
            <a:pPr algn="ctr">
              <a:defRPr sz="18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É descobrir melhor.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55CAE-F984-459A-A234-D65D10D4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Crescimento de receitas gravadas em 2025</a:t>
            </a:r>
          </a:p>
        </p:txBody>
      </p:sp>
    </p:spTree>
    <p:extLst>
      <p:ext uri="{BB962C8B-B14F-4D97-AF65-F5344CB8AC3E}">
        <p14:creationId xmlns:p14="http://schemas.microsoft.com/office/powerpoint/2010/main" val="20442480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46FA7A-F619-4B46-A226-4F1EE1B9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EXPERIÊNCIA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0BE830-4559-461E-9E50-609A3775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Da conversa à recomendação, sem exigir filtros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F0F373-2101-4550-9E26-0ABC3F7E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EA454-44C2-4032-ABE6-B47C2990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238125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01183-791C-457C-B16D-E83707E0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4572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DF570B-4A97-437A-987F-69A4491F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33625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9A3D9-14CD-4856-A82F-7B30F06C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Pedido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0125DE-BD29-49E4-9448-A00CDDDC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0425"/>
            <a:ext cx="1924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“pagode animado”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A24EBC-E662-43A5-942B-3444BE50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5755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78D6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5560E-94BB-4B05-A6B9-ECE55B66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095500"/>
            <a:ext cx="238125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4DF077-07ED-4208-B620-C7F00738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305050"/>
            <a:ext cx="4572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6AA981-8212-4FDE-8C5A-492B6BB9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333625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EC0AD2-63D9-4F5A-B071-5B3F4A36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8575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Entendimento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1ED181-A5DD-4B27-B1CA-7A3A0493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400425"/>
            <a:ext cx="1924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gênero +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869781-95AE-4154-A9F1-868A7D6C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25755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78D6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0CB3CB-4185-49F8-90FB-7257476A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238125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A93E29-28B5-44E8-97C7-E7A83DAA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05050"/>
            <a:ext cx="4572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B18824-7924-4DD7-87E9-AE7F4674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33625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9DBD7A-B623-43B3-A76F-C6D2C2FA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575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Catálogo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6A3A8F-5025-48E1-AB30-F3E29AB4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00425"/>
            <a:ext cx="1924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faixas existentes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D3E3A-92EE-4F98-8080-57551C3B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57550"/>
            <a:ext cx="438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78D6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5B87D6-30EA-431D-B8A5-5EA4AEC5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095500"/>
            <a:ext cx="238125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E0D4D8-C32B-4806-9279-0E5F6B9F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305050"/>
            <a:ext cx="4572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DB95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58D7C7-497F-4D97-8B61-4D1CF2B1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333625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F8F904-443D-41C4-BAA6-A7DAF6CDC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8575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Resposta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339361-E2AB-4C7C-BE25-F1A0F35F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400425"/>
            <a:ext cx="1924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sugestões + motivo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2D721B-8953-41FF-ADE6-372FCF93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00625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O LLM pode ajudar a compreender. A recomendação continua presa ao catálogo.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B2A959-870D-46A0-85B3-6D811805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Experiência simples para o usuário; controles claros por trás</a:t>
            </a:r>
          </a:p>
        </p:txBody>
      </p:sp>
    </p:spTree>
    <p:extLst>
      <p:ext uri="{BB962C8B-B14F-4D97-AF65-F5344CB8AC3E}">
        <p14:creationId xmlns:p14="http://schemas.microsoft.com/office/powerpoint/2010/main" val="1748160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5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840D9B-9E40-48C3-A2C9-601BB0E5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CONFIANÇA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D7CE2-4532-49EF-9EB1-A5016A7F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resposta não pode inventar músicas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E8A3C8-EBAD-4CB1-81EB-0BE9A9D1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9BA451-6989-49F3-9488-CCF92539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4953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24221D"/>
          </a:solidFill>
          <a:ln xmlns:a="http://schemas.openxmlformats.org/drawingml/2006/main" w="9525">
            <a:solidFill>
              <a:srgbClr val="3B38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4A1FD-6E45-4AAF-BDF1-3193E168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2405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Determinístico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84DFC1-9018-4AAB-BEFF-805A9E25A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90800"/>
            <a:ext cx="4000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9E5D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9E5DB"/>
                </a:solidFill>
                <a:latin typeface="Arial"/>
                <a:ea typeface="Arial"/>
                <a:cs typeface="Arial"/>
              </a:rPr>
              <a:t>• valida o pedido</a:t>
            </a:r>
          </a:p>
          <a:p xmlns:a="http://schemas.openxmlformats.org/drawingml/2006/main">
            <a:pPr algn="l">
              <a:defRPr sz="2025" b="0">
                <a:solidFill>
                  <a:srgbClr val="E9E5D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9E5DB"/>
                </a:solidFill>
                <a:latin typeface="Arial"/>
                <a:ea typeface="Arial"/>
                <a:cs typeface="Arial"/>
              </a:rPr>
              <a:t>• busca no conjunto local</a:t>
            </a:r>
          </a:p>
          <a:p xmlns:a="http://schemas.openxmlformats.org/drawingml/2006/main">
            <a:pPr algn="l">
              <a:defRPr sz="2025" b="0">
                <a:solidFill>
                  <a:srgbClr val="E9E5D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9E5DB"/>
                </a:solidFill>
                <a:latin typeface="Arial"/>
                <a:ea typeface="Arial"/>
                <a:cs typeface="Arial"/>
              </a:rPr>
              <a:t>• calcula similaridade</a:t>
            </a:r>
          </a:p>
          <a:p xmlns:a="http://schemas.openxmlformats.org/drawingml/2006/main">
            <a:pPr algn="l">
              <a:defRPr sz="2025" b="0">
                <a:solidFill>
                  <a:srgbClr val="E9E5D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9E5DB"/>
                </a:solidFill>
                <a:latin typeface="Arial"/>
                <a:ea typeface="Arial"/>
                <a:cs typeface="Arial"/>
              </a:rPr>
              <a:t>• limita e diversifica resultados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0CDB3B-608A-42D6-8DE8-3468A490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619250"/>
            <a:ext cx="495300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0DBA5-31D5-4AB7-A6A2-10514663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2405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LLM opcional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6BAB3E-66B8-4741-A036-94AE714E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90800"/>
            <a:ext cx="4000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interpreta texto livre</a:t>
            </a:r>
          </a:p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segue um contrato JSON</a:t>
            </a:r>
          </a:p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pode falhar sem parar o fluxo</a:t>
            </a:r>
          </a:p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 nunca cria a lista final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F40D88-7CB8-47C8-B83F-1CE92AB9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476875"/>
            <a:ext cx="42291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DB95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086176-12F5-47A3-81D1-F7451A93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5054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CATÁLOGO = FONTE DA VERDADE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B4E459-0F5A-4E91-8E80-1090807B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7C2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7C2B8"/>
                </a:solidFill>
                <a:latin typeface="Arial"/>
                <a:ea typeface="Arial"/>
                <a:cs typeface="Arial"/>
              </a:rPr>
              <a:t>Separação de responsabilidades reduz alucinações</a:t>
            </a:r>
          </a:p>
        </p:txBody>
      </p:sp>
    </p:spTree>
    <p:extLst>
      <p:ext uri="{BB962C8B-B14F-4D97-AF65-F5344CB8AC3E}">
        <p14:creationId xmlns:p14="http://schemas.microsoft.com/office/powerpoint/2010/main" val="19766335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FB07CB-A674-4E4C-8ED2-F1D4EB65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EVIDÊNCIAS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985C4-1872-4E65-88C8-A5578D90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6827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Um catálogo amplo, com números que dizem coisas diferentes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FE361-9345-4193-815F-DADD38CE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85800" y="1619250"/>
          <a:ext xmlns:a="http://schemas.openxmlformats.org/drawingml/2006/main" cx="723900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54a9a534f244cf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8CA3D5-44B5-4B2E-AC20-58A759B9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09750"/>
            <a:ext cx="2809875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7150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B9217E-A933-4749-84B4-422A8CA8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152650"/>
            <a:ext cx="2238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12"/>
          </a:bodyPr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118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034A0E-99FD-496C-9784-0E19EBFD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105150"/>
            <a:ext cx="2238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556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gêneros no conjunto</a:t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processado atual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1B6267-4BC2-429F-BE9C-AA1BE6B11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762500"/>
            <a:ext cx="312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Repetição não é erro: uma faixa pode aparecer em mais de um gênero.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890B1E-84CE-48EB-A387-EF11C908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Perfil do conjunto processado · setembro de 2026</a:t>
            </a:r>
          </a:p>
        </p:txBody>
      </p:sp>
    </p:spTree>
    <p:extLst>
      <p:ext uri="{BB962C8B-B14F-4D97-AF65-F5344CB8AC3E}">
        <p14:creationId xmlns:p14="http://schemas.microsoft.com/office/powerpoint/2010/main" val="17138969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C34E9B-A7D3-4134-8A6E-83F6B0B9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AO VIVO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995AD7-8B22-492D-BB52-70C4F2F1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Demo: “quero um pagode animado”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749BE-8070-4AFC-A6AD-BA5BC3F2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665E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B2C10-5FCF-4CCD-8D5F-35C1FAAB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923925"/>
            <a:ext cx="1809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66B5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3FAA1-2DA1-495E-BC4A-531A3EBA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95250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65 SEGUNDOS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A4D5F-98F9-42E7-AB14-53FF3F66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3C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5F844C-2E0D-4CF2-ACE2-C1825BC1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47875"/>
            <a:ext cx="4381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CEBF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02DCD-8223-43B2-A3F8-517BDE6E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71700"/>
            <a:ext cx="3905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55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Você: quero um pagode animado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5D3E8-04FD-4219-B677-9BFC0D14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95500"/>
            <a:ext cx="47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203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2D983A-8C79-40D7-BC1D-2B30B72B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952625"/>
            <a:ext cx="43815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17150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AD2A8F-C8CF-48D3-8EB6-3EAC3305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MelodIA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046A93-4032-4ED0-B7D4-B2768F9F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47950"/>
            <a:ext cx="3619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faixas do catálogo</a:t>
            </a:r>
          </a:p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motivo da escolha</a:t>
            </a:r>
          </a:p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filtros aplicados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4EB563-7173-4FEC-BF40-B03D8F22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429000"/>
            <a:ext cx="14097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105459-E0A0-43C1-A0A2-DACECF19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457575"/>
            <a:ext cx="1181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SEM LLM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E32338-FE8F-4699-B071-1EBD18DC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429000"/>
            <a:ext cx="16002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304B7-3E21-48D2-AFFC-207332E5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457575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SEM OAUTH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DC3380-8A5F-433F-AD4C-B28FF52B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333875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4221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4221D"/>
                </a:solidFill>
                <a:latin typeface="Arial"/>
                <a:ea typeface="Arial"/>
                <a:cs typeface="Arial"/>
              </a:rPr>
              <a:t>Se algo falhar, entra o clipe reserva de 45 s com o mesmo fluxo.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5776FB-F2EE-4461-84D1-1D6CB2E9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665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665E"/>
                </a:solidFill>
                <a:latin typeface="Arial"/>
                <a:ea typeface="Arial"/>
                <a:cs typeface="Arial"/>
              </a:rPr>
              <a:t>A demo principal funciona de forma anônima e determinística</a:t>
            </a:r>
          </a:p>
        </p:txBody>
      </p:sp>
    </p:spTree>
    <p:extLst>
      <p:ext uri="{BB962C8B-B14F-4D97-AF65-F5344CB8AC3E}">
        <p14:creationId xmlns:p14="http://schemas.microsoft.com/office/powerpoint/2010/main" val="1539809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15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90B419-4A70-4430-8473-28E8D5DD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FECHAMENTO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402813-5300-413F-BEFE-0FE67024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571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MelodIA transforma intenção em descoberta confiável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7E76B-E51B-46DB-8903-03C5E110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1910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ACE9AE-4048-496D-A1E7-20412CC8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48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Natural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811AF5-147A-4E6C-94CD-D79063B2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428875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D6D1C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6D1C7"/>
                </a:solidFill>
                <a:latin typeface="Arial"/>
                <a:ea typeface="Arial"/>
                <a:cs typeface="Arial"/>
              </a:rPr>
              <a:t>pedido em linguagem comum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985E9-F2C8-4B12-9070-8D81E3A3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0975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48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Confiável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073CA-3D27-469E-A6DC-96B3371C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428875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D6D1C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6D1C7"/>
                </a:solidFill>
                <a:latin typeface="Arial"/>
                <a:ea typeface="Arial"/>
                <a:cs typeface="Arial"/>
              </a:rPr>
              <a:t>faixas vêm do catálogo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C701DC-95D1-42AA-B85D-05A26772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0975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48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Evolutivo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41F019-EBCA-488E-8B87-30CEF53E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428875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D6D1C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6D1C7"/>
                </a:solidFill>
                <a:latin typeface="Arial"/>
                <a:ea typeface="Arial"/>
                <a:cs typeface="Arial"/>
              </a:rPr>
              <a:t>LLM e Spotify são camadas opcionais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DEB52-7E5D-4290-903F-87F25CD2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714750"/>
            <a:ext cx="777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FE54D3-60CD-4450-A8B7-71FEDE78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9575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A78D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A78D6"/>
                </a:solidFill>
                <a:latin typeface="Arial"/>
                <a:ea typeface="Arial"/>
                <a:cs typeface="Arial"/>
              </a:rPr>
              <a:t>Próximo passo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64CE6-84B5-415F-A733-173D9B9E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686300"/>
            <a:ext cx="8191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validar com usuários e medir a qualidade percebida das recomendações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C6569-15BB-4A1E-85F2-0E7A68F1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102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DC56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DC56A"/>
                </a:solidFill>
                <a:latin typeface="Arial"/>
                <a:ea typeface="Arial"/>
                <a:cs typeface="Arial"/>
              </a:rPr>
              <a:t>Obrigado.</a:t>
            </a:r>
          </a:p>
        </p:txBody>
      </p:sp>
    </p:spTree>
    <p:extLst>
      <p:ext uri="{BB962C8B-B14F-4D97-AF65-F5344CB8AC3E}">
        <p14:creationId xmlns:p14="http://schemas.microsoft.com/office/powerpoint/2010/main" val="9093856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2026-09-04T13:05:51.9560000Z</dcterms:created>
  <dcterms:modified xsi:type="dcterms:W3CDTF">2026-09-04T13:05:51.9560000Z</dcterms:modified>
</coreProperties>
</file>