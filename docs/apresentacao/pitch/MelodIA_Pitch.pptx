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2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c36fb2e293849a7" /><Relationship Type="http://schemas.openxmlformats.org/officeDocument/2006/relationships/extended-properties" Target="/docProps/app.xml" Id="R5ee843286a204d18" /><Relationship Type="http://schemas.openxmlformats.org/officeDocument/2006/relationships/officeDocument" Target="/ppt/presentation.xml" Id="Ra190f5c9554a441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39fbd19490e40c0"/>
  </p:sldMasterIdLst>
  <p:notesMasterIdLst>
    <p:notesMasterId xmlns:r="http://schemas.openxmlformats.org/officeDocument/2006/relationships" r:id="R26e2317a40b14597"/>
  </p:notesMasterIdLst>
  <p:sldIdLst>
    <p:sldId xmlns:r="http://schemas.openxmlformats.org/officeDocument/2006/relationships" id="256" r:id="Ra49e100369e84e3f"/>
    <p:sldId xmlns:r="http://schemas.openxmlformats.org/officeDocument/2006/relationships" id="257" r:id="R478f9d5f0f3e40d6"/>
    <p:sldId xmlns:r="http://schemas.openxmlformats.org/officeDocument/2006/relationships" id="258" r:id="Rbea14defbb574764"/>
    <p:sldId xmlns:r="http://schemas.openxmlformats.org/officeDocument/2006/relationships" id="259" r:id="R2e52c3d0acbe4835"/>
    <p:sldId xmlns:r="http://schemas.openxmlformats.org/officeDocument/2006/relationships" id="260" r:id="R2f30c2cbaba64f7c"/>
    <p:sldId xmlns:r="http://schemas.openxmlformats.org/officeDocument/2006/relationships" id="261" r:id="R7b57d8b8089f4d1d"/>
    <p:sldId xmlns:r="http://schemas.openxmlformats.org/officeDocument/2006/relationships" id="262" r:id="R52cd62cfe5d04f72"/>
    <p:sldId xmlns:r="http://schemas.openxmlformats.org/officeDocument/2006/relationships" id="263" r:id="R9d3f72c183dc4af6"/>
    <p:sldId xmlns:r="http://schemas.openxmlformats.org/officeDocument/2006/relationships" id="264" r:id="R0eb65f4a78e04926"/>
    <p:sldId xmlns:r="http://schemas.openxmlformats.org/officeDocument/2006/relationships" id="265" r:id="R82886cc261e847a8"/>
    <p:sldId xmlns:r="http://schemas.openxmlformats.org/officeDocument/2006/relationships" id="266" r:id="R1088dc6b275840bf"/>
    <p:sldId xmlns:r="http://schemas.openxmlformats.org/officeDocument/2006/relationships" id="267" r:id="Rdf642438123e4348"/>
    <p:sldId xmlns:r="http://schemas.openxmlformats.org/officeDocument/2006/relationships" id="268" r:id="Rd52ccb22d1da4922"/>
    <p:sldId xmlns:r="http://schemas.openxmlformats.org/officeDocument/2006/relationships" id="269" r:id="R496b5dffc5cd414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ff663d7975b4eea" /><Relationship Type="http://schemas.openxmlformats.org/officeDocument/2006/relationships/slideMaster" Target="/ppt/slideMasters/slideMaster1.xml" Id="R939fbd19490e40c0" /><Relationship Type="http://schemas.openxmlformats.org/officeDocument/2006/relationships/notesMaster" Target="/ppt/notesMasters/notesMaster1.xml" Id="R26e2317a40b14597" /><Relationship Type="http://schemas.openxmlformats.org/officeDocument/2006/relationships/presProps" Target="/ppt/presProps.xml" Id="R5c9bd494c0234905" /><Relationship Type="http://schemas.openxmlformats.org/officeDocument/2006/relationships/tableStyles" Target="/ppt/tableStyles.xml" Id="R3519aec078b04d9f" /><Relationship Type="http://schemas.openxmlformats.org/officeDocument/2006/relationships/slide" Target="/ppt/slides/slide1.xml" Id="Ra49e100369e84e3f" /><Relationship Type="http://schemas.openxmlformats.org/officeDocument/2006/relationships/slide" Target="/ppt/slides/slide2.xml" Id="R478f9d5f0f3e40d6" /><Relationship Type="http://schemas.openxmlformats.org/officeDocument/2006/relationships/slide" Target="/ppt/slides/slide3.xml" Id="Rbea14defbb574764" /><Relationship Type="http://schemas.openxmlformats.org/officeDocument/2006/relationships/slide" Target="/ppt/slides/slide4.xml" Id="R2e52c3d0acbe4835" /><Relationship Type="http://schemas.openxmlformats.org/officeDocument/2006/relationships/slide" Target="/ppt/slides/slide5.xml" Id="R2f30c2cbaba64f7c" /><Relationship Type="http://schemas.openxmlformats.org/officeDocument/2006/relationships/slide" Target="/ppt/slides/slide6.xml" Id="R7b57d8b8089f4d1d" /><Relationship Type="http://schemas.openxmlformats.org/officeDocument/2006/relationships/slide" Target="/ppt/slides/slide7.xml" Id="R52cd62cfe5d04f72" /><Relationship Type="http://schemas.openxmlformats.org/officeDocument/2006/relationships/slide" Target="/ppt/slides/slide8.xml" Id="R9d3f72c183dc4af6" /><Relationship Type="http://schemas.openxmlformats.org/officeDocument/2006/relationships/slide" Target="/ppt/slides/slide9.xml" Id="R0eb65f4a78e04926" /><Relationship Type="http://schemas.openxmlformats.org/officeDocument/2006/relationships/slide" Target="/ppt/slides/slide10.xml" Id="R82886cc261e847a8" /><Relationship Type="http://schemas.openxmlformats.org/officeDocument/2006/relationships/slide" Target="/ppt/slides/slide11.xml" Id="R1088dc6b275840bf" /><Relationship Type="http://schemas.openxmlformats.org/officeDocument/2006/relationships/slide" Target="/ppt/slides/slide12.xml" Id="Rdf642438123e4348" /><Relationship Type="http://schemas.openxmlformats.org/officeDocument/2006/relationships/slide" Target="/ppt/slides/slide13.xml" Id="Rd52ccb22d1da4922" /><Relationship Type="http://schemas.openxmlformats.org/officeDocument/2006/relationships/slide" Target="/ppt/slides/slide14.xml" Id="R496b5dffc5cd414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5073307b784450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a78b0318f784fdc" /><Relationship Type="http://schemas.openxmlformats.org/officeDocument/2006/relationships/notesMaster" Target="/ppt/notesMasters/notesMaster1.xml" Id="R645a2c2ad4e3469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2da33605dde4082" /><Relationship Type="http://schemas.openxmlformats.org/officeDocument/2006/relationships/notesMaster" Target="/ppt/notesMasters/notesMaster1.xml" Id="R89fee8cb5cb748e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291fc5a8f6c4c06" /><Relationship Type="http://schemas.openxmlformats.org/officeDocument/2006/relationships/notesMaster" Target="/ppt/notesMasters/notesMaster1.xml" Id="R0abf6e77f3bf444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7b32bab9e874e96" /><Relationship Type="http://schemas.openxmlformats.org/officeDocument/2006/relationships/notesMaster" Target="/ppt/notesMasters/notesMaster1.xml" Id="R243cda7107184e4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282fcb34f2942ed" /><Relationship Type="http://schemas.openxmlformats.org/officeDocument/2006/relationships/notesMaster" Target="/ppt/notesMasters/notesMaster1.xml" Id="R364b7b6502ae476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f9afcbacf9a46d1" /><Relationship Type="http://schemas.openxmlformats.org/officeDocument/2006/relationships/notesMaster" Target="/ppt/notesMasters/notesMaster1.xml" Id="R80ef8b31f48d44d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d768eb5021948a5" /><Relationship Type="http://schemas.openxmlformats.org/officeDocument/2006/relationships/notesMaster" Target="/ppt/notesMasters/notesMaster1.xml" Id="R27f13a5ba34c46b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8220135f0ae4b1b" /><Relationship Type="http://schemas.openxmlformats.org/officeDocument/2006/relationships/notesMaster" Target="/ppt/notesMasters/notesMaster1.xml" Id="R33b067734f8547e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ecf71c8ee044525" /><Relationship Type="http://schemas.openxmlformats.org/officeDocument/2006/relationships/notesMaster" Target="/ppt/notesMasters/notesMaster1.xml" Id="Rf948c1f6cddb4ac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20717d0f9294087" /><Relationship Type="http://schemas.openxmlformats.org/officeDocument/2006/relationships/notesMaster" Target="/ppt/notesMasters/notesMaster1.xml" Id="R5eddfcffaab8489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850fcaedb324d79" /><Relationship Type="http://schemas.openxmlformats.org/officeDocument/2006/relationships/notesMaster" Target="/ppt/notesMasters/notesMaster1.xml" Id="Rfdaa617da48647a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b64ca1769ed4229" /><Relationship Type="http://schemas.openxmlformats.org/officeDocument/2006/relationships/notesMaster" Target="/ppt/notesMasters/notesMaster1.xml" Id="R232b6d34c1b047f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d8f0da88f724f3a" /><Relationship Type="http://schemas.openxmlformats.org/officeDocument/2006/relationships/notesMaster" Target="/ppt/notesMasters/notesMaster1.xml" Id="R6505783a7d544b8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aa052a15f6441d4" /><Relationship Type="http://schemas.openxmlformats.org/officeDocument/2006/relationships/notesMaster" Target="/ppt/notesMasters/notesMaster1.xml" Id="R6828747d12e5444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00:10</a:t>
            </a:r>
          </a:p>
          <a:p xmlns:a="http://schemas.openxmlformats.org/drawingml/2006/main">
            <a:r>
              <a:t>Notas de fala: Apresente o MelodIA em uma frase: a pessoa descreve o que quer ouvir e recebe faixas reais com uma explicação curta.</a:t>
            </a:r>
          </a:p>
          <a:p xmlns:a="http://schemas.openxmlformats.org/drawingml/2006/main">
            <a:r>
              <a:t>Fontes: docs/apresentacao/ROTEIRO_PITCH.md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00:15</a:t>
            </a:r>
          </a:p>
          <a:p xmlns:a="http://schemas.openxmlformats.org/drawingml/2006/main">
            <a:r>
              <a:t>Notas de fala: Convide a banca a reconhecer situações em que a intenção aparece antes de uma música específica.</a:t>
            </a:r>
          </a:p>
          <a:p xmlns:a="http://schemas.openxmlformats.org/drawingml/2006/main">
            <a:r>
              <a:t>Fontes: docs/apresentacao/ROTEIRO_PITCH.md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00:20</a:t>
            </a:r>
          </a:p>
          <a:p xmlns:a="http://schemas.openxmlformats.org/drawingml/2006/main">
            <a:r>
              <a:t>Notas de fala: Mostre que o problema não é falta de música, mas traduzir um pedido humano para buscas e filtros.</a:t>
            </a:r>
          </a:p>
          <a:p xmlns:a="http://schemas.openxmlformats.org/drawingml/2006/main">
            <a:r>
              <a:t>Fontes: analise_mercado_streaming/RELATORIO.md; docs/apresentacao/ROTEIRO_PITCH.md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00:25</a:t>
            </a:r>
          </a:p>
          <a:p xmlns:a="http://schemas.openxmlformats.org/drawingml/2006/main">
            <a:r>
              <a:t>Notas de fala: Compare 14,1% no Brasil com 6,4% no mundo e cite o oitavo lugar e a participação aproximada do streaming.</a:t>
            </a:r>
          </a:p>
          <a:p xmlns:a="http://schemas.openxmlformats.org/drawingml/2006/main">
            <a:r>
              <a:t>Fontes: Pró-Música Brasil; IFPI Global Music Report 2026; analise_mercado_streaming/RELATORIO.md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00:20</a:t>
            </a:r>
          </a:p>
          <a:p xmlns:a="http://schemas.openxmlformats.org/drawingml/2006/main">
            <a:r>
              <a:t>Notas de fala: Leia o pedido e resuma a proposta em três ações: entender, buscar e explicar.</a:t>
            </a:r>
          </a:p>
          <a:p xmlns:a="http://schemas.openxmlformats.org/drawingml/2006/main">
            <a:r>
              <a:t>Fontes: docs/apresentacao/ROTEIRO_PITCH.md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00:20</a:t>
            </a:r>
          </a:p>
          <a:p xmlns:a="http://schemas.openxmlformats.org/drawingml/2006/main">
            <a:r>
              <a:t>Notas de fala: Explique as quatro etapas sem jargão. A conversa inicia o fluxo e o catálogo sustenta a resposta.</a:t>
            </a:r>
          </a:p>
          <a:p xmlns:a="http://schemas.openxmlformats.org/drawingml/2006/main">
            <a:r>
              <a:t>Fontes: docs/PIPELINE_AGENTE_PROPOSTA_B.md; agente_conversacional/recomendacao/busca.py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00:15</a:t>
            </a:r>
          </a:p>
          <a:p xmlns:a="http://schemas.openxmlformats.org/drawingml/2006/main">
            <a:r>
              <a:t>Notas de fala: Destaque que o fluxo principal funciona sem conta e que o Spotify acrescenta conveniência, não dependência.</a:t>
            </a:r>
          </a:p>
          <a:p xmlns:a="http://schemas.openxmlformats.org/drawingml/2006/main">
            <a:r>
              <a:t>Fontes: docs/apresentacao/ROTEIRO_PITCH.md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00:10</a:t>
            </a:r>
          </a:p>
          <a:p xmlns:a="http://schemas.openxmlformats.org/drawingml/2006/main">
            <a:r>
              <a:t>Notas de fala: Faça uma pergunta rápida à banca e use a resposta como transição para a demonstração.</a:t>
            </a:r>
          </a:p>
          <a:p xmlns:a="http://schemas.openxmlformats.org/drawingml/2006/main">
            <a:r>
              <a:t>Fontes: docs/apresentacao/ROTEIRO_PITCH.md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00:55</a:t>
            </a:r>
          </a:p>
          <a:p xmlns:a="http://schemas.openxmlformats.org/drawingml/2006/main">
            <a:r>
              <a:t>Notas de fala: Digite o pedido combinado, mostre as faixas reais e a justificativa. Se a aplicação não responder em dez segundos, use o clipe reserva.</a:t>
            </a:r>
          </a:p>
          <a:p xmlns:a="http://schemas.openxmlformats.org/drawingml/2006/main">
            <a:r>
              <a:t>Fontes: docs/apresentacao/ENSAIO_GERAL.md; docs/apresentacao/video/GUIA_GRAVACAO.md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00:20</a:t>
            </a:r>
          </a:p>
          <a:p xmlns:a="http://schemas.openxmlformats.org/drawingml/2006/main">
            <a:r>
              <a:t>Notas de fala: Explique que a IA apoia a interpretação e a redação, enquanto a busca permanece ligada ao catálogo.</a:t>
            </a:r>
          </a:p>
          <a:p xmlns:a="http://schemas.openxmlformats.org/drawingml/2006/main">
            <a:r>
              <a:t>Fontes: docs/PIPELINE_AGENTE_PROPOSTA_B.md; agente_conversacional/chat/pipeline.py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00:25</a:t>
            </a:r>
          </a:p>
          <a:p xmlns:a="http://schemas.openxmlformats.org/drawingml/2006/main">
            <a:r>
              <a:t>Notas de fala: Mostre os três controles e reforce a frase central: o catálogo funciona como fonte de verdade.</a:t>
            </a:r>
          </a:p>
          <a:p xmlns:a="http://schemas.openxmlformats.org/drawingml/2006/main">
            <a:r>
              <a:t>Fontes: data/analytics/dataset_profile.json; docs/PIPELINE_AGENTE_PROPOSTA_B.md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00:25</a:t>
            </a:r>
          </a:p>
          <a:p xmlns:a="http://schemas.openxmlformats.org/drawingml/2006/main">
            <a:r>
              <a:t>Notas de fala: Leia apenas os números e as escalas. Evite atribuir qualidades subjetivas aos gêneros.</a:t>
            </a:r>
          </a:p>
          <a:p xmlns:a="http://schemas.openxmlformats.org/drawingml/2006/main">
            <a:r>
              <a:t>Fontes: data/analytics/occurrences_by_genre.csv; analise_exploratoria.ipynb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00:20</a:t>
            </a:r>
          </a:p>
          <a:p xmlns:a="http://schemas.openxmlformats.org/drawingml/2006/main">
            <a:r>
              <a:t>Notas de fala: Resuma o que já funciona e apresente a validação com pessoas reais como próximo passo.</a:t>
            </a:r>
          </a:p>
          <a:p xmlns:a="http://schemas.openxmlformats.org/drawingml/2006/main">
            <a:r>
              <a:t>Fontes: docs/apresentacao/ROTEIRO_PITCH.md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00:20</a:t>
            </a:r>
          </a:p>
          <a:p xmlns:a="http://schemas.openxmlformats.org/drawingml/2006/main">
            <a:r>
              <a:t>Notas de fala: Encerre com o convite para experimentar o produto e compartilhar a percepção.</a:t>
            </a:r>
          </a:p>
          <a:p xmlns:a="http://schemas.openxmlformats.org/drawingml/2006/main">
            <a:r>
              <a:t>Fontes: docs/apresentacao/ROTEIRO_PITCH.md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3eaceee4ec483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a901809d7564741" /><Relationship Type="http://schemas.openxmlformats.org/officeDocument/2006/relationships/slideLayout" Target="/ppt/slideLayouts/slideLayout1.xml" Id="Ra87010d99c5c45d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87010d99c5c45d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baae8754a24bae" /><Relationship Type="http://schemas.openxmlformats.org/officeDocument/2006/relationships/notesSlide" Target="/ppt/notesSlides/notesSlide1.xml" Id="R62ea203e0d354fb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425c232cd64870" /><Relationship Type="http://schemas.openxmlformats.org/officeDocument/2006/relationships/notesSlide" Target="/ppt/notesSlides/notesSlide2.xml" Id="R26841abb837b40e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9192bf65854d6f" /><Relationship Type="http://schemas.openxmlformats.org/officeDocument/2006/relationships/image" Target="/ppt/media/image.png" Id="Rbaa333e10dab437b" /><Relationship Type="http://schemas.openxmlformats.org/officeDocument/2006/relationships/notesSlide" Target="/ppt/notesSlides/notesSlide3.xml" Id="R8785408f98e8490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45e78067b944ef" /><Relationship Type="http://schemas.openxmlformats.org/officeDocument/2006/relationships/chart" Target="/ppt/slides/charts/chart1.xml" Id="R59c0612dc68b4a50" /><Relationship Type="http://schemas.openxmlformats.org/officeDocument/2006/relationships/notesSlide" Target="/ppt/notesSlides/notesSlide4.xml" Id="Rc0b6e1e5975a405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df039a61fb4bff" /><Relationship Type="http://schemas.openxmlformats.org/officeDocument/2006/relationships/notesSlide" Target="/ppt/notesSlides/notesSlide5.xml" Id="Rdec5f02855e4466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e08b27f14c4b7e" /><Relationship Type="http://schemas.openxmlformats.org/officeDocument/2006/relationships/notesSlide" Target="/ppt/notesSlides/notesSlide6.xml" Id="R72c4bbf40a9b494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2946f67b574c20" /><Relationship Type="http://schemas.openxmlformats.org/officeDocument/2006/relationships/notesSlide" Target="/ppt/notesSlides/notesSlide7.xml" Id="Re5a19aae41f3438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d4315fa8dc4bf7" /><Relationship Type="http://schemas.openxmlformats.org/officeDocument/2006/relationships/notesSlide" Target="/ppt/notesSlides/notesSlide8.xml" Id="R7858bfa466994ac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675674503b4cca" /><Relationship Type="http://schemas.openxmlformats.org/officeDocument/2006/relationships/notesSlide" Target="/ppt/notesSlides/notesSlide9.xml" Id="R2ec1ecc7f00b4f5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d3d9c8944141ff" /><Relationship Type="http://schemas.openxmlformats.org/officeDocument/2006/relationships/image" Target="/ppt/media/image2.png" Id="Rfc81ac3b9d364414" /><Relationship Type="http://schemas.openxmlformats.org/officeDocument/2006/relationships/notesSlide" Target="/ppt/notesSlides/notesSlide10.xml" Id="R4c286ad3518d404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354d23752c4d75" /><Relationship Type="http://schemas.openxmlformats.org/officeDocument/2006/relationships/notesSlide" Target="/ppt/notesSlides/notesSlide11.xml" Id="R229fcc52478c444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2f9a1a67ed430f" /><Relationship Type="http://schemas.openxmlformats.org/officeDocument/2006/relationships/chart" Target="/ppt/slides/charts/chart2.xml" Id="R0ec18ad90f644e33" /><Relationship Type="http://schemas.openxmlformats.org/officeDocument/2006/relationships/notesSlide" Target="/ppt/notesSlides/notesSlide12.xml" Id="R691d4649ad304f2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4daf26197c4376" /><Relationship Type="http://schemas.openxmlformats.org/officeDocument/2006/relationships/notesSlide" Target="/ppt/notesSlides/notesSlide13.xml" Id="R906cfdf573a548f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4d94b94f7f4320" /><Relationship Type="http://schemas.openxmlformats.org/officeDocument/2006/relationships/image" Target="/ppt/media/image3.png" Id="R679f6eacc0a04199" /><Relationship Type="http://schemas.openxmlformats.org/officeDocument/2006/relationships/notesSlide" Target="/ppt/notesSlides/notesSlide14.xml" Id="R5f3ec2e12c734d52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Crescimento em 2025</c:v>
          </c:tx>
          <c:spPr>
            <a:solidFill xmlns:a="http://schemas.openxmlformats.org/drawingml/2006/main">
              <a:srgbClr val="3F7D58"/>
            </a:solidFill>
          </c:spPr>
          <c:cat>
            <c:strRef>
              <c:f>'Chart Data'!$A$2:$A$3</c:f>
              <c:strCache>
                <c:ptCount val="2"/>
                <c:pt idx="0">
                  <c:v>Brasil</c:v>
                </c:pt>
                <c:pt idx="1">
                  <c:v>Mundo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14.1</c:v>
                </c:pt>
                <c:pt idx="1">
                  <c:v>6.4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Energia</c:v>
          </c:tx>
          <c:spPr>
            <a:solidFill xmlns:a="http://schemas.openxmlformats.org/drawingml/2006/main">
              <a:srgbClr val="3F7D58"/>
            </a:solidFill>
          </c:spPr>
          <c:cat>
            <c:strRef>
              <c:f>'Chart Data'!$A$2:$A$3</c:f>
              <c:strCache>
                <c:ptCount val="2"/>
                <c:pt idx="0">
                  <c:v>Clássica</c:v>
                </c:pt>
                <c:pt idx="1">
                  <c:v>Death metal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0.19</c:v>
                </c:pt>
                <c:pt idx="1">
                  <c:v>0.93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972B01-D6DF-48E6-B831-8DBB2EB7E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239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D2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F2006C-FE94-46F2-95AA-0718A81D8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81125"/>
            <a:ext cx="5619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MelodIA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D0E6B1-6755-415A-B7ED-4A069ABEF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533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E4EBD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4EBDD"/>
                </a:solidFill>
                <a:latin typeface="Arial"/>
                <a:ea typeface="Arial"/>
                <a:cs typeface="Arial"/>
              </a:rPr>
              <a:t>Recomendações musicais por conversa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CBD443-653E-4A91-B350-16D3C3358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57550"/>
            <a:ext cx="5429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Você descreve o que quer ouvir.</a:t>
            </a:r>
          </a:p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 MelodIA encontra faixas reais e explica a escolha.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049FED-B09E-49F7-887B-A9274DB3E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10200"/>
            <a:ext cx="542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A34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C7A34A"/>
                </a:solidFill>
                <a:latin typeface="Arial"/>
                <a:ea typeface="Arial"/>
                <a:cs typeface="Arial"/>
              </a:rPr>
              <a:t>Grupo 8 · Residência em Inteligência Artificial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BA5E92-4AA3-452B-A14A-91855218E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91200"/>
            <a:ext cx="542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4EBD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E4EBDD"/>
                </a:solidFill>
                <a:latin typeface="Arial"/>
                <a:ea typeface="Arial"/>
                <a:cs typeface="Arial"/>
              </a:rPr>
              <a:t>Lucas · Felipe · Eduarda · Ruan · Rebeca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4122E3-1836-4959-8BA0-D42C320C9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476375"/>
            <a:ext cx="31432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0" b="1">
                <a:solidFill>
                  <a:srgbClr val="3F7D58"/>
                </a:solidFill>
                <a:latin typeface="Arial"/>
                <a:ea typeface="Arial"/>
                <a:cs typeface="Arial"/>
              </a:defRPr>
            </a:pPr>
            <a:r>
              <a:rPr sz="16500" b="1">
                <a:solidFill>
                  <a:srgbClr val="3F7D58"/>
                </a:solidFill>
                <a:latin typeface="Arial"/>
                <a:ea typeface="Arial"/>
                <a:cs typeface="Arial"/>
              </a:rPr>
              <a:t>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F38B17-ACE3-43F7-BC46-159B6FDC0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7625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C6A60"/>
                </a:solidFill>
                <a:latin typeface="Arial"/>
                <a:ea typeface="Arial"/>
                <a:cs typeface="Arial"/>
              </a:rPr>
              <a:t>conversa + catálogo</a:t>
            </a:r>
          </a:p>
        </p:txBody>
      </p:sp>
    </p:spTree>
    <p:extLst>
      <p:ext uri="{BB962C8B-B14F-4D97-AF65-F5344CB8AC3E}">
        <p14:creationId xmlns:p14="http://schemas.microsoft.com/office/powerpoint/2010/main" val="51943058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D88CB8-8186-404D-A4E6-FA5D573D4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F7D5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F7D58"/>
                </a:solidFill>
                <a:latin typeface="Arial"/>
                <a:ea typeface="Arial"/>
                <a:cs typeface="Arial"/>
              </a:rPr>
              <a:t>MELODIA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C0DB0E-0557-45D5-AEBB-F162B273F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287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6362B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26362B"/>
                </a:solidFill>
                <a:latin typeface="Arial"/>
                <a:ea typeface="Arial"/>
                <a:cs typeface="Arial"/>
              </a:rPr>
              <a:t>Como você escolhe o que ouvir?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994AA7-553E-4E8F-80BF-12FA96F39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C6A6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C6A6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6B8B6A-7B84-49E7-9264-ED9D08097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981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C6A60"/>
                </a:solidFill>
                <a:latin typeface="Arial"/>
                <a:ea typeface="Arial"/>
                <a:cs typeface="Arial"/>
              </a:rPr>
              <a:t>Você já sabia o clima que queria, mas não sabia qual música colocar?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11D791-61C6-496F-9EAC-2884E4854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33625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3D2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3D2B"/>
                </a:solidFill>
                <a:latin typeface="Arial"/>
                <a:ea typeface="Arial"/>
                <a:cs typeface="Arial"/>
              </a:rPr>
              <a:t>Estudar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410E29-8B26-486C-B94E-F1D6E6B8A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C6A60"/>
                </a:solidFill>
                <a:latin typeface="Arial"/>
                <a:ea typeface="Arial"/>
                <a:cs typeface="Arial"/>
              </a:rPr>
              <a:t>Foco e concentração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0F0E6A-8D81-4CEF-A284-47F118326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00425"/>
            <a:ext cx="4429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D5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2BE0E0-B2B8-49DD-85C5-E90DEB145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333625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3D2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3D2B"/>
                </a:solidFill>
                <a:latin typeface="Arial"/>
                <a:ea typeface="Arial"/>
                <a:cs typeface="Arial"/>
              </a:rPr>
              <a:t>Treinar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ECF29F-6CF3-405D-ACCD-E82C7FAAA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85750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C6A60"/>
                </a:solidFill>
                <a:latin typeface="Arial"/>
                <a:ea typeface="Arial"/>
                <a:cs typeface="Arial"/>
              </a:rPr>
              <a:t>Energia e motivação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C5E78F-F544-48E1-9884-3EAB0D9D0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400425"/>
            <a:ext cx="4429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A34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DA69A6-8070-4D30-AA29-4383964FC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052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3D2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3D2B"/>
                </a:solidFill>
                <a:latin typeface="Arial"/>
                <a:ea typeface="Arial"/>
                <a:cs typeface="Arial"/>
              </a:rPr>
              <a:t>Descansar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A282A7-D6BC-431C-8098-D2FAC6B15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29125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C6A60"/>
                </a:solidFill>
                <a:latin typeface="Arial"/>
                <a:ea typeface="Arial"/>
                <a:cs typeface="Arial"/>
              </a:rPr>
              <a:t>Calma e relaxamento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9D7B17-47BD-49FD-868E-223571F7E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72050"/>
            <a:ext cx="4429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D58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29C00C-4D1A-4FEA-99FA-A2974153D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9052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3D2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3D2B"/>
                </a:solidFill>
                <a:latin typeface="Arial"/>
                <a:ea typeface="Arial"/>
                <a:cs typeface="Arial"/>
              </a:rPr>
              <a:t>Encontrar amigos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B3DDAB-67DB-4969-9BBB-139AD823D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429125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C6A60"/>
                </a:solidFill>
                <a:latin typeface="Arial"/>
                <a:ea typeface="Arial"/>
                <a:cs typeface="Arial"/>
              </a:rPr>
              <a:t>Alegria e celebração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439476-DF3B-4F3E-9B31-93256A80B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972050"/>
            <a:ext cx="4429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A34A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61956932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971721-DA11-48DF-815B-6A62FC52B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F7D5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F7D58"/>
                </a:solidFill>
                <a:latin typeface="Arial"/>
                <a:ea typeface="Arial"/>
                <a:cs typeface="Arial"/>
              </a:rPr>
              <a:t>MELODIA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B669C1-11E5-472C-BAFB-25D284E7D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287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6362B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26362B"/>
                </a:solidFill>
                <a:latin typeface="Arial"/>
                <a:ea typeface="Arial"/>
                <a:cs typeface="Arial"/>
              </a:rPr>
              <a:t>Descobrir música ainda dá trabalho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403190-A8D7-45FA-AEC6-E3C37C6D4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C6A6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C6A6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a333e10dab437b"/>
          <a:srcRect xmlns:a="http://schemas.openxmlformats.org/drawingml/2006/main" l="0" t="2273" r="0" b="227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666875"/>
            <a:ext cx="6286500" cy="4000500"/>
          </a:xfrm>
          <a:prstGeom xmlns:a="http://schemas.openxmlformats.org/drawingml/2006/main" prst="roundRect">
            <a:avLst>
              <a:gd name="adj" fmla="val 3810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A56ACD-60E6-4E09-A204-131B5AA52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809750"/>
            <a:ext cx="385762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3D2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3D2B"/>
                </a:solidFill>
                <a:latin typeface="Arial"/>
                <a:ea typeface="Arial"/>
                <a:cs typeface="Arial"/>
              </a:rPr>
              <a:t>“Quero um pagode animado para o churrasco de domingo.”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982069-DC7A-4111-9D95-6859285D5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48000"/>
            <a:ext cx="647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A34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C557D1-253A-4CAC-A07A-372D06108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333750"/>
            <a:ext cx="3857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6362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6362B"/>
                </a:solidFill>
                <a:latin typeface="Arial"/>
                <a:ea typeface="Arial"/>
                <a:cs typeface="Arial"/>
              </a:rPr>
              <a:t>Esse pedido mistura gênero, energia e contexto.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22A9D4-3631-4BD4-8F2B-D80BC9FCF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286250"/>
            <a:ext cx="38576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C6A60"/>
                </a:solidFill>
                <a:latin typeface="Arial"/>
                <a:ea typeface="Arial"/>
                <a:cs typeface="Arial"/>
              </a:rPr>
              <a:t>O desejo é simples. Encontrar a combinação certa pode exigir várias buscas.</a:t>
            </a:r>
          </a:p>
        </p:txBody>
      </p:sp>
    </p:spTree>
    <p:extLst>
      <p:ext uri="{BB962C8B-B14F-4D97-AF65-F5344CB8AC3E}">
        <p14:creationId xmlns:p14="http://schemas.microsoft.com/office/powerpoint/2010/main" val="158923284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AF2DF9-B73C-489C-8AD2-2036D6342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F7D5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F7D58"/>
                </a:solidFill>
                <a:latin typeface="Arial"/>
                <a:ea typeface="Arial"/>
                <a:cs typeface="Arial"/>
              </a:rPr>
              <a:t>MELODIA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07048A-3402-47B7-9B0F-D8FC2E53E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287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6362B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26362B"/>
                </a:solidFill>
                <a:latin typeface="Arial"/>
                <a:ea typeface="Arial"/>
                <a:cs typeface="Arial"/>
              </a:rPr>
              <a:t>O Brasil cresce acima da média mundial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0532E9-9B25-416E-B204-69CEF829D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C6A6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C6A6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685800" y="1714500"/>
          <a:ext xmlns:a="http://schemas.openxmlformats.org/drawingml/2006/main" cx="638175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9c0612dc68b4a50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4EC3D1-C2AA-4EA8-97BF-4ACFF74FE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600325"/>
            <a:ext cx="1285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D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3D2B"/>
                </a:solidFill>
                <a:latin typeface="Arial"/>
                <a:ea typeface="Arial"/>
                <a:cs typeface="Arial"/>
              </a:rPr>
              <a:t>14,1%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AB18D3-65C3-484A-B887-531FF7CCB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524250"/>
            <a:ext cx="1285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D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3D2B"/>
                </a:solidFill>
                <a:latin typeface="Arial"/>
                <a:ea typeface="Arial"/>
                <a:cs typeface="Arial"/>
              </a:rPr>
              <a:t>6,4%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569A8C-5D11-41F1-A75C-A9EC31B4A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52625"/>
            <a:ext cx="2571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950" b="1">
                <a:solidFill>
                  <a:srgbClr val="173D2B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173D2B"/>
                </a:solidFill>
                <a:latin typeface="Arial"/>
                <a:ea typeface="Arial"/>
                <a:cs typeface="Arial"/>
              </a:rPr>
              <a:t>8º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5A1D55-F342-48F3-8ED1-B874A3FD0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857500"/>
            <a:ext cx="323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636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6362B"/>
                </a:solidFill>
                <a:latin typeface="Arial"/>
                <a:ea typeface="Arial"/>
                <a:cs typeface="Arial"/>
              </a:rPr>
              <a:t>maior mercado musical do mundo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D291AE-BEC6-4D27-90E3-C725EACC6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00500"/>
            <a:ext cx="2571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3F7D58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3F7D58"/>
                </a:solidFill>
                <a:latin typeface="Arial"/>
                <a:ea typeface="Arial"/>
                <a:cs typeface="Arial"/>
              </a:rPr>
              <a:t>~86%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5C96D7-CDFB-4625-9D40-D53149588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762500"/>
            <a:ext cx="323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C6A60"/>
                </a:solidFill>
                <a:latin typeface="Arial"/>
                <a:ea typeface="Arial"/>
                <a:cs typeface="Arial"/>
              </a:rPr>
              <a:t>da receita vem do streaming no Brasil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EA1D8A-6BE6-400B-8B5C-EB14D43C7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3D2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73D2B"/>
                </a:solidFill>
                <a:latin typeface="Arial"/>
                <a:ea typeface="Arial"/>
                <a:cs typeface="Arial"/>
              </a:rPr>
              <a:t>Fontes: Pró-Música Brasil e IFPI Global Music Report 2026. Dados de 2025.</a:t>
            </a:r>
          </a:p>
        </p:txBody>
      </p:sp>
    </p:spTree>
    <p:extLst>
      <p:ext uri="{BB962C8B-B14F-4D97-AF65-F5344CB8AC3E}">
        <p14:creationId xmlns:p14="http://schemas.microsoft.com/office/powerpoint/2010/main" val="105428135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FEF887-C99D-4ADA-9F07-ED6C3A96D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F7D5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F7D58"/>
                </a:solidFill>
                <a:latin typeface="Arial"/>
                <a:ea typeface="Arial"/>
                <a:cs typeface="Arial"/>
              </a:rPr>
              <a:t>MELODIA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4A1DB6-C822-46EA-B899-B7A4538AA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287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6362B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26362B"/>
                </a:solidFill>
                <a:latin typeface="Arial"/>
                <a:ea typeface="Arial"/>
                <a:cs typeface="Arial"/>
              </a:rPr>
              <a:t>A conversa como ponto de partida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06F25C-9E33-41B8-8423-B561AD905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C6A6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C6A6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DAAF1D-FB5B-4DB1-A601-02A431AEE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809750"/>
            <a:ext cx="9144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714"/>
          </a:bodyPr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173D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3D2B"/>
                </a:solidFill>
                <a:latin typeface="Arial"/>
                <a:ea typeface="Arial"/>
                <a:cs typeface="Arial"/>
              </a:rPr>
              <a:t>“Algo calmo, sem conteúdo explícito, para estudar à noite.”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7F1FFC-B83E-4D59-9F0E-BBB2EE603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19500"/>
            <a:ext cx="285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26362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6362B"/>
                </a:solidFill>
                <a:latin typeface="Arial"/>
                <a:ea typeface="Arial"/>
                <a:cs typeface="Arial"/>
              </a:rPr>
              <a:t>Entender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A5B72F-79DB-4681-9BF2-459838993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572000"/>
            <a:ext cx="1333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D58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C7B3EA-07EF-454A-BD3D-6DAFD5045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619500"/>
            <a:ext cx="285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3F7D5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F7D58"/>
                </a:solidFill>
                <a:latin typeface="Arial"/>
                <a:ea typeface="Arial"/>
                <a:cs typeface="Arial"/>
              </a:rPr>
              <a:t>Buscar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CD9C37-8EE6-4C41-A39B-ECB3A83ED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572000"/>
            <a:ext cx="1333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A34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655A2B-7186-4282-9A18-8EFD995A9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619500"/>
            <a:ext cx="285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26362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6362B"/>
                </a:solidFill>
                <a:latin typeface="Arial"/>
                <a:ea typeface="Arial"/>
                <a:cs typeface="Arial"/>
              </a:rPr>
              <a:t>Explicar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820F2C-68AA-4D3A-A1C1-47E46E497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572000"/>
            <a:ext cx="1333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D58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64360718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07D934-530F-480F-8480-58BCF25A6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F7D5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F7D58"/>
                </a:solidFill>
                <a:latin typeface="Arial"/>
                <a:ea typeface="Arial"/>
                <a:cs typeface="Arial"/>
              </a:rPr>
              <a:t>MELODIA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2747F6-3A35-4C53-83C4-701949144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287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6362B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26362B"/>
                </a:solidFill>
                <a:latin typeface="Arial"/>
                <a:ea typeface="Arial"/>
                <a:cs typeface="Arial"/>
              </a:rPr>
              <a:t>Do pedido à recomendação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137B85-0A73-49E8-B30C-A68ACACD1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C6A6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C6A6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102A97-EB31-4DF6-B95C-202DB2BAF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C6A60"/>
                </a:solidFill>
                <a:latin typeface="Arial"/>
                <a:ea typeface="Arial"/>
                <a:cs typeface="Arial"/>
              </a:rPr>
              <a:t>Quatro etapas simples, do primeiro pedido até a recomendação.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EFC72F-636C-4AAF-959A-ED3E8573C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81250"/>
            <a:ext cx="533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C7A34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C7A34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E212E1-86FD-4910-908A-78A421AAF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95625"/>
            <a:ext cx="2428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73D2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3D2B"/>
                </a:solidFill>
                <a:latin typeface="Arial"/>
                <a:ea typeface="Arial"/>
                <a:cs typeface="Arial"/>
              </a:rPr>
              <a:t>Pedido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53DFFF-2434-400F-86DF-F4A29A12D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714750"/>
            <a:ext cx="223837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C6A60"/>
                </a:solidFill>
                <a:latin typeface="Arial"/>
                <a:ea typeface="Arial"/>
                <a:cs typeface="Arial"/>
              </a:rPr>
              <a:t>Você descreve o que quer ouvir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879C2F-6AB8-4745-9CB2-B8A534944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53000"/>
            <a:ext cx="1381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D5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C14497-9E30-4079-8528-AC8416E55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381250"/>
            <a:ext cx="533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C7A34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C7A34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2A20D3-653B-4E7E-AC46-DEE7C16CD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095625"/>
            <a:ext cx="2428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73D2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3D2B"/>
                </a:solidFill>
                <a:latin typeface="Arial"/>
                <a:ea typeface="Arial"/>
                <a:cs typeface="Arial"/>
              </a:rPr>
              <a:t>Entendimento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C27254-1FB7-4AFC-8F17-2F34CF108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714750"/>
            <a:ext cx="223837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C6A60"/>
                </a:solidFill>
                <a:latin typeface="Arial"/>
                <a:ea typeface="Arial"/>
                <a:cs typeface="Arial"/>
              </a:rPr>
              <a:t>O sistema identifica as preferências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944B13-A1A9-4744-A95F-C97355968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953000"/>
            <a:ext cx="1381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D5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29BA10-52B1-474C-A6CE-BEFFFF21C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381250"/>
            <a:ext cx="533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C7A34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C7A34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8A14F1-B21F-4798-A546-1A0F5DA20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095625"/>
            <a:ext cx="2428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73D2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3D2B"/>
                </a:solidFill>
                <a:latin typeface="Arial"/>
                <a:ea typeface="Arial"/>
                <a:cs typeface="Arial"/>
              </a:rPr>
              <a:t>Catálogo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F73E2E-2B08-41FC-B7D1-C06E980A1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714750"/>
            <a:ext cx="223837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C6A60"/>
                </a:solidFill>
                <a:latin typeface="Arial"/>
                <a:ea typeface="Arial"/>
                <a:cs typeface="Arial"/>
              </a:rPr>
              <a:t>As músicas compatíveis são procuradas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B2A603-1BC5-47C0-AE8D-D3244F8B2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953000"/>
            <a:ext cx="1381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D5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5CB2FC-68F2-45A1-87EF-47E8FADCC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381250"/>
            <a:ext cx="533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C7A34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C7A34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D53EC8-CE2E-4A6B-A10F-7CC50903C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095625"/>
            <a:ext cx="2428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73D2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3D2B"/>
                </a:solidFill>
                <a:latin typeface="Arial"/>
                <a:ea typeface="Arial"/>
                <a:cs typeface="Arial"/>
              </a:rPr>
              <a:t>Resposta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BBF47E-B9F5-4ECE-BE3E-5FCDFBCEA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714750"/>
            <a:ext cx="223837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C6A60"/>
                </a:solidFill>
                <a:latin typeface="Arial"/>
                <a:ea typeface="Arial"/>
                <a:cs typeface="Arial"/>
              </a:rPr>
              <a:t>As sugestões chegam com uma explicação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270336-C305-4263-945E-E575BB9E0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4953000"/>
            <a:ext cx="1381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A34A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74733373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FE8466-E73F-4523-8E1A-3E7906ADD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F7D5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F7D58"/>
                </a:solidFill>
                <a:latin typeface="Arial"/>
                <a:ea typeface="Arial"/>
                <a:cs typeface="Arial"/>
              </a:rPr>
              <a:t>MELODIA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F1E309-DF8D-4EC0-8769-E5A11B595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287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6362B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26362B"/>
                </a:solidFill>
                <a:latin typeface="Arial"/>
                <a:ea typeface="Arial"/>
                <a:cs typeface="Arial"/>
              </a:rPr>
              <a:t>Mais liberdade para descobrir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AFB4C7-9EE0-486F-8099-EAA39DFEA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C6A6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C6A60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C2CCD2-067B-4147-A330-110137512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C6A60"/>
                </a:solidFill>
                <a:latin typeface="Arial"/>
                <a:ea typeface="Arial"/>
                <a:cs typeface="Arial"/>
              </a:rPr>
              <a:t>A experiência começa com uma conversa e cresce quando a pessoa desejar.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BE48BE-74E9-41A1-BCF9-474F1A24F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333625"/>
            <a:ext cx="523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7A34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7A34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20C180-1458-40FC-B0AF-05101409D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295525"/>
            <a:ext cx="876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6362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6362B"/>
                </a:solidFill>
                <a:latin typeface="Arial"/>
                <a:ea typeface="Arial"/>
                <a:cs typeface="Arial"/>
              </a:rPr>
              <a:t>Peça músicas com suas próprias palavras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0B89A6-6FA2-41E5-AF85-3928D257C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828925"/>
            <a:ext cx="838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C9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C5B60B-B3F5-4A9D-A874-4B384B791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114675"/>
            <a:ext cx="523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7A34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7A34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35EFAC-F828-474A-8CBF-19CE04555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076575"/>
            <a:ext cx="876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6362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6362B"/>
                </a:solidFill>
                <a:latin typeface="Arial"/>
                <a:ea typeface="Arial"/>
                <a:cs typeface="Arial"/>
              </a:rPr>
              <a:t>Comece sem conectar uma conta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FC4303-95C0-4F37-A813-94AE059AF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609975"/>
            <a:ext cx="838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C9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945611-9E1D-4D69-8A2F-46696D1C9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95725"/>
            <a:ext cx="523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7A34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7A34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5CF521-8DF9-4D1F-8073-E0B6D6B0D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857625"/>
            <a:ext cx="876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6362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6362B"/>
                </a:solidFill>
                <a:latin typeface="Arial"/>
                <a:ea typeface="Arial"/>
                <a:cs typeface="Arial"/>
              </a:rPr>
              <a:t>Entenda o motivo das recomendações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6C74F1-C7C5-49FF-B014-80CE8454E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391025"/>
            <a:ext cx="838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C9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EEB75C-91FA-4C1D-9754-16AD4BE2F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676775"/>
            <a:ext cx="523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7A34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7A34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EE6850-7845-4166-B029-59AF43AF2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638675"/>
            <a:ext cx="876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6362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6362B"/>
                </a:solidFill>
                <a:latin typeface="Arial"/>
                <a:ea typeface="Arial"/>
                <a:cs typeface="Arial"/>
              </a:rPr>
              <a:t>Conecte o Spotify para salvar uma playlist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D9E6DD-653B-4EC0-BCAA-1CA2DD915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172075"/>
            <a:ext cx="838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C9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8F60EA-FB23-4D2A-B1F4-B34A89E32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572125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F7D5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3F7D58"/>
                </a:solidFill>
                <a:latin typeface="Arial"/>
                <a:ea typeface="Arial"/>
                <a:cs typeface="Arial"/>
              </a:rPr>
              <a:t>Também é possível pedir outra seleção sem repetir as faixas já mostradas.</a:t>
            </a:r>
          </a:p>
        </p:txBody>
      </p:sp>
    </p:spTree>
    <p:extLst>
      <p:ext uri="{BB962C8B-B14F-4D97-AF65-F5344CB8AC3E}">
        <p14:creationId xmlns:p14="http://schemas.microsoft.com/office/powerpoint/2010/main" val="81199806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68B523-26D9-471E-B3FE-B01D4D076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F7D5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F7D58"/>
                </a:solidFill>
                <a:latin typeface="Arial"/>
                <a:ea typeface="Arial"/>
                <a:cs typeface="Arial"/>
              </a:rPr>
              <a:t>MELODIA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A450E4-0FF8-473A-A4C2-ECFE3AD0F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287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6362B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26362B"/>
                </a:solidFill>
                <a:latin typeface="Arial"/>
                <a:ea typeface="Arial"/>
                <a:cs typeface="Arial"/>
              </a:rPr>
              <a:t>O que você pediria?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5C8B2A-911F-4738-9CC6-736AA7E7A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C6A6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C6A60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B36786-A84E-4D19-8610-A347DCA24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3D2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3D2B"/>
                </a:solidFill>
                <a:latin typeface="Arial"/>
                <a:ea typeface="Arial"/>
                <a:cs typeface="Arial"/>
              </a:rPr>
              <a:t>Pagode animado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92EBFA-5E7D-4ADD-AD53-43697B979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05075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C6A60"/>
                </a:solidFill>
                <a:latin typeface="Arial"/>
                <a:ea typeface="Arial"/>
                <a:cs typeface="Arial"/>
              </a:rPr>
              <a:t>Para um churrasco de domingo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0C54F0-CFAA-46AC-B877-97F0CA82D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19425"/>
            <a:ext cx="409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D58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E478EA-174C-4BC6-BA6E-C1177F3B6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52625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3D2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3D2B"/>
                </a:solidFill>
                <a:latin typeface="Arial"/>
                <a:ea typeface="Arial"/>
                <a:cs typeface="Arial"/>
              </a:rPr>
              <a:t>Lo-fi calmo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88FA07-2885-41C0-AFBC-584B39BB9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05075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C6A60"/>
                </a:solidFill>
                <a:latin typeface="Arial"/>
                <a:ea typeface="Arial"/>
                <a:cs typeface="Arial"/>
              </a:rPr>
              <a:t>Para estudar na madrugada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D58B8F-841D-4E86-BA62-A0AA1886B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19425"/>
            <a:ext cx="409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A34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8C83CF-8BF6-495D-959F-E004F5D02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1950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3D2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3D2B"/>
                </a:solidFill>
                <a:latin typeface="Arial"/>
                <a:ea typeface="Arial"/>
                <a:cs typeface="Arial"/>
              </a:rPr>
              <a:t>Rock energético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13446E-6530-45FE-B24F-06E0115C6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719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C6A60"/>
                </a:solidFill>
                <a:latin typeface="Arial"/>
                <a:ea typeface="Arial"/>
                <a:cs typeface="Arial"/>
              </a:rPr>
              <a:t>Para acelerar na estrada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B184DE-F9F9-4362-AC6A-77A036FB6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86300"/>
            <a:ext cx="409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D5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3CA6CF-53E9-4279-98D6-8304E135E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1950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3D2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3D2B"/>
                </a:solidFill>
                <a:latin typeface="Arial"/>
                <a:ea typeface="Arial"/>
                <a:cs typeface="Arial"/>
              </a:rPr>
              <a:t>Pop dançante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5EFDD3-1DA5-4D86-ABFF-3F81C3351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1719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C6A60"/>
                </a:solidFill>
                <a:latin typeface="Arial"/>
                <a:ea typeface="Arial"/>
                <a:cs typeface="Arial"/>
              </a:rPr>
              <a:t>Para o treino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0A5FA5-F39C-4FD8-8520-DB68EBAAB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686300"/>
            <a:ext cx="409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A34A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5B4FCC-DC12-4812-9BF3-517E38091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524500"/>
            <a:ext cx="723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3F7D5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3F7D58"/>
                </a:solidFill>
                <a:latin typeface="Arial"/>
                <a:ea typeface="Arial"/>
                <a:cs typeface="Arial"/>
              </a:rPr>
              <a:t>Qual desses você gostaria de testar?</a:t>
            </a:r>
          </a:p>
        </p:txBody>
      </p:sp>
    </p:spTree>
    <p:extLst>
      <p:ext uri="{BB962C8B-B14F-4D97-AF65-F5344CB8AC3E}">
        <p14:creationId xmlns:p14="http://schemas.microsoft.com/office/powerpoint/2010/main" val="14336695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73D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B0A2D1-D61A-4FAE-A2CD-042C3182D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7A34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C7A34A"/>
                </a:solidFill>
                <a:latin typeface="Arial"/>
                <a:ea typeface="Arial"/>
                <a:cs typeface="Arial"/>
              </a:rPr>
              <a:t>MELODIA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A020C1-CAE5-4C30-97A7-5E797BA39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287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Vamos transformar um pedido em música?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5F1159-AA2D-481E-A68C-9062C76B7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47272B-78D2-433B-9AF5-70F76D061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238375"/>
            <a:ext cx="9334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“Quero um pagode animado.”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58C8C2-D940-47D0-A4CD-75D74CAED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524250"/>
            <a:ext cx="3524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A34A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915F5C-5ADE-4D3A-8BFE-490BB25A4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000500"/>
            <a:ext cx="514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E4EBD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E4EBDD"/>
                </a:solidFill>
                <a:latin typeface="Arial"/>
                <a:ea typeface="Arial"/>
                <a:cs typeface="Arial"/>
              </a:rPr>
              <a:t>Demonstração ao vivo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BD7802-0A2F-4D86-8261-33AA2A626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5095875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C7A34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C7A34A"/>
                </a:solidFill>
                <a:latin typeface="Arial"/>
                <a:ea typeface="Arial"/>
                <a:cs typeface="Arial"/>
              </a:rPr>
              <a:t>Plano B: clipe reserva de 45 segundos</a:t>
            </a:r>
          </a:p>
        </p:txBody>
      </p:sp>
    </p:spTree>
    <p:extLst>
      <p:ext uri="{BB962C8B-B14F-4D97-AF65-F5344CB8AC3E}">
        <p14:creationId xmlns:p14="http://schemas.microsoft.com/office/powerpoint/2010/main" val="177781955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390D85-5F51-43B7-BFD5-BA58720A5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F7D5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F7D58"/>
                </a:solidFill>
                <a:latin typeface="Arial"/>
                <a:ea typeface="Arial"/>
                <a:cs typeface="Arial"/>
              </a:rPr>
              <a:t>MELODIA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3AA037-CCAB-447B-A14E-5A9FDEB1C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7524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37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6362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26362B"/>
                </a:solidFill>
                <a:latin typeface="Arial"/>
                <a:ea typeface="Arial"/>
                <a:cs typeface="Arial"/>
              </a:rPr>
              <a:t>A Inteligência Artificial ajuda a entender o pedido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C1619D-36DD-4B4C-801B-35A6E69BF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C6A6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C6A6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00934B-ED5D-4595-A409-155949C5A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476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C6A60"/>
                </a:solidFill>
                <a:latin typeface="Arial"/>
                <a:ea typeface="Arial"/>
                <a:cs typeface="Arial"/>
              </a:rPr>
              <a:t>A IA interpreta a linguagem da pessoa e ajuda a escrever uma resposta clara.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FE9EF4-0174-43D1-B99B-3731F3749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0375"/>
            <a:ext cx="1762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3D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3D2B"/>
                </a:solidFill>
                <a:latin typeface="Arial"/>
                <a:ea typeface="Arial"/>
                <a:cs typeface="Arial"/>
              </a:rPr>
              <a:t>Interpretar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E735EF-657F-47DB-8D37-BE2AF0CEB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981325"/>
            <a:ext cx="3000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5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C6A60"/>
                </a:solidFill>
                <a:latin typeface="Arial"/>
                <a:ea typeface="Arial"/>
                <a:cs typeface="Arial"/>
              </a:rPr>
              <a:t>Compreende o que a pessoa quer dizer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AD8B15-FF17-4F74-BDE7-B1C776957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76675"/>
            <a:ext cx="1762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3D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3D2B"/>
                </a:solidFill>
                <a:latin typeface="Arial"/>
                <a:ea typeface="Arial"/>
                <a:cs typeface="Arial"/>
              </a:rPr>
              <a:t>Buscar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E0B502-B3BC-41B5-BD3A-31EDEF25F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857625"/>
            <a:ext cx="3000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C6A60"/>
                </a:solidFill>
                <a:latin typeface="Arial"/>
                <a:ea typeface="Arial"/>
                <a:cs typeface="Arial"/>
              </a:rPr>
              <a:t>Consulta um catálogo conhecido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9AC9B2-0C16-404B-9662-289B11359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52975"/>
            <a:ext cx="1762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3D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3D2B"/>
                </a:solidFill>
                <a:latin typeface="Arial"/>
                <a:ea typeface="Arial"/>
                <a:cs typeface="Arial"/>
              </a:rPr>
              <a:t>Explicar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0DFDA2-4887-40F0-BCE1-C6969D649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4733925"/>
            <a:ext cx="3000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5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C6A60"/>
                </a:solidFill>
                <a:latin typeface="Arial"/>
                <a:ea typeface="Arial"/>
                <a:cs typeface="Arial"/>
              </a:rPr>
              <a:t>Apresenta a resposta em linguagem humana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81ac3b9d364414"/>
          <a:stretch xmlns:a="http://schemas.openxmlformats.org/drawingml/2006/main"/>
        </p:blipFill>
        <p:spPr>
          <a:xfrm xmlns:a="http://schemas.openxmlformats.org/drawingml/2006/main">
            <a:off x="5857875" y="1635125"/>
            <a:ext cx="5667375" cy="3778250"/>
          </a:xfrm>
          <a:prstGeom xmlns:a="http://schemas.openxmlformats.org/drawingml/2006/main" prst="roundRect">
            <a:avLst>
              <a:gd name="adj" fmla="val 3902"/>
            </a:avLst>
          </a:prstGeom>
        </p:spPr>
      </p:pic>
    </p:spTree>
    <p:extLst>
      <p:ext uri="{BB962C8B-B14F-4D97-AF65-F5344CB8AC3E}">
        <p14:creationId xmlns:p14="http://schemas.microsoft.com/office/powerpoint/2010/main" val="83774300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655369-B7C9-427A-951B-E1213B7CD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F7D5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F7D58"/>
                </a:solidFill>
                <a:latin typeface="Arial"/>
                <a:ea typeface="Arial"/>
                <a:cs typeface="Arial"/>
              </a:rPr>
              <a:t>MELODIA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5634CA-B5F7-4F87-80F3-FC0813585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287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6362B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26362B"/>
                </a:solidFill>
                <a:latin typeface="Arial"/>
                <a:ea typeface="Arial"/>
                <a:cs typeface="Arial"/>
              </a:rPr>
              <a:t>As músicas recomendadas precisam existir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695BEE-AB84-42EC-9639-55E5F6CD0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C6A6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C6A60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61A6EE-0989-498F-9292-073C2EE8D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3D2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D2B"/>
                </a:solidFill>
                <a:latin typeface="Arial"/>
                <a:ea typeface="Arial"/>
                <a:cs typeface="Arial"/>
              </a:rPr>
              <a:t>Verificação antes da resposta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068AA0-B529-43B2-96B9-521EA407D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C6A60"/>
                </a:solidFill>
                <a:latin typeface="Arial"/>
                <a:ea typeface="Arial"/>
                <a:cs typeface="Arial"/>
              </a:rPr>
              <a:t>O sistema confirma as faixas no catálogo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D88AB2-4ED5-422B-98DF-14C38F034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4524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C9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2EFA16-A161-416B-AC44-480C13E2D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0375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3D2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D2B"/>
                </a:solidFill>
                <a:latin typeface="Arial"/>
                <a:ea typeface="Arial"/>
                <a:cs typeface="Arial"/>
              </a:rPr>
              <a:t>Pedidos simples sempre funcionam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536F14-8C2E-4B13-A809-7883978EF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57575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C6A60"/>
                </a:solidFill>
                <a:latin typeface="Arial"/>
                <a:ea typeface="Arial"/>
                <a:cs typeface="Arial"/>
              </a:rPr>
              <a:t>O fluxo continua mesmo sem IA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432008-AD21-4C47-9E7A-84A7DDC98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14775"/>
            <a:ext cx="4524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C9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453E33-8DFF-460C-945C-60BE911C5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3D2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D2B"/>
                </a:solidFill>
                <a:latin typeface="Arial"/>
                <a:ea typeface="Arial"/>
                <a:cs typeface="Arial"/>
              </a:rPr>
              <a:t>97.534 faixas únicas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301097-0FB2-49B3-858A-924E79B26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C6A60"/>
                </a:solidFill>
                <a:latin typeface="Arial"/>
                <a:ea typeface="Arial"/>
                <a:cs typeface="Arial"/>
              </a:rPr>
              <a:t>128.830 registros e 118 gêneros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2233DB-B7EA-4AAF-AF6B-D26D23753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05400"/>
            <a:ext cx="4524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C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53D108-B735-47AE-902A-AD86776E0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952625"/>
            <a:ext cx="476250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173D2B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91FB65-BAD6-4E33-935B-310A7253D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619375"/>
            <a:ext cx="3619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 catálogo funciona como fonte de verdade.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F5BCBE-4FDC-46CB-A490-285894EC9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3D2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73D2B"/>
                </a:solidFill>
                <a:latin typeface="Arial"/>
                <a:ea typeface="Arial"/>
                <a:cs typeface="Arial"/>
              </a:rPr>
              <a:t>Fonte: data/analytics/dataset_profile.json</a:t>
            </a:r>
          </a:p>
        </p:txBody>
      </p:sp>
    </p:spTree>
    <p:extLst>
      <p:ext uri="{BB962C8B-B14F-4D97-AF65-F5344CB8AC3E}">
        <p14:creationId xmlns:p14="http://schemas.microsoft.com/office/powerpoint/2010/main" val="88802786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DD0304-FE15-4A6E-A7F5-2AB2E2744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F7D5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F7D58"/>
                </a:solidFill>
                <a:latin typeface="Arial"/>
                <a:ea typeface="Arial"/>
                <a:cs typeface="Arial"/>
              </a:rPr>
              <a:t>MELODIA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827A91-F0B5-497B-9DE4-4AAF6392D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287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6362B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26362B"/>
                </a:solidFill>
                <a:latin typeface="Arial"/>
                <a:ea typeface="Arial"/>
                <a:cs typeface="Arial"/>
              </a:rPr>
              <a:t>Cada gênero tem um perfil diferente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57D8E3-EDCC-4D4D-84BD-766B2BB8A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C6A6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C6A60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685800" y="1762125"/>
          <a:ext xmlns:a="http://schemas.openxmlformats.org/drawingml/2006/main" cx="6286500" cy="3476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ec18ad90f644e33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07BCDD-5F78-4CD0-BC5F-372E7F596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24125"/>
            <a:ext cx="590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3D2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3D2B"/>
                </a:solidFill>
                <a:latin typeface="Arial"/>
                <a:ea typeface="Arial"/>
                <a:cs typeface="Arial"/>
              </a:rPr>
              <a:t>0,93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66EFF8-9791-4EBE-8C35-545D4F7D2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4171950"/>
            <a:ext cx="590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3D2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3D2B"/>
                </a:solidFill>
                <a:latin typeface="Arial"/>
                <a:ea typeface="Arial"/>
                <a:cs typeface="Arial"/>
              </a:rPr>
              <a:t>0,19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C4D4A2-EB42-4AB9-A233-0B77C1E68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D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3D2B"/>
                </a:solidFill>
                <a:latin typeface="Arial"/>
                <a:ea typeface="Arial"/>
                <a:cs typeface="Arial"/>
              </a:rPr>
              <a:t>Energia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D9CC28-6450-4B0A-8285-112A36741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952625"/>
            <a:ext cx="285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173D2B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73D2B"/>
                </a:solidFill>
                <a:latin typeface="Arial"/>
                <a:ea typeface="Arial"/>
                <a:cs typeface="Arial"/>
              </a:rPr>
              <a:t>0,77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C3D73F-E7D7-49B8-BED8-1E0591B21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809875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C6A60"/>
                </a:solidFill>
                <a:latin typeface="Arial"/>
                <a:ea typeface="Arial"/>
                <a:cs typeface="Arial"/>
              </a:rPr>
              <a:t>Chicago house</a:t>
            </a:r>
          </a:p>
          <a:p xmlns:a="http://schemas.openxmlformats.org/drawingml/2006/main">
            <a:pPr algn="ctr">
              <a:defRPr sz="1725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C6A60"/>
                </a:solidFill>
                <a:latin typeface="Arial"/>
                <a:ea typeface="Arial"/>
                <a:cs typeface="Arial"/>
              </a:rPr>
              <a:t>dançabilidade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843987-0B3D-49A1-AF6D-0AA097818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905250"/>
            <a:ext cx="285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3F7D58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3F7D58"/>
                </a:solidFill>
                <a:latin typeface="Arial"/>
                <a:ea typeface="Arial"/>
                <a:cs typeface="Arial"/>
              </a:rPr>
              <a:t>53,7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ACB709-B8FD-47D0-86CD-7627B577A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762500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C6A60"/>
                </a:solidFill>
                <a:latin typeface="Arial"/>
                <a:ea typeface="Arial"/>
                <a:cs typeface="Arial"/>
              </a:rPr>
              <a:t>Chill</a:t>
            </a:r>
          </a:p>
          <a:p xmlns:a="http://schemas.openxmlformats.org/drawingml/2006/main">
            <a:pPr algn="ctr">
              <a:defRPr sz="1725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C6A60"/>
                </a:solidFill>
                <a:latin typeface="Arial"/>
                <a:ea typeface="Arial"/>
                <a:cs typeface="Arial"/>
              </a:rPr>
              <a:t>popularidade média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C1FA24-99A2-41D4-86F8-892895D65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3D2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73D2B"/>
                </a:solidFill>
                <a:latin typeface="Arial"/>
                <a:ea typeface="Arial"/>
                <a:cs typeface="Arial"/>
              </a:rPr>
              <a:t>Energia e dançabilidade: escala de 0 a 1. Popularidade: escala de 0 a 100. Fonte: data/analytics/occurrences_by_genre.csv</a:t>
            </a:r>
          </a:p>
        </p:txBody>
      </p:sp>
    </p:spTree>
    <p:extLst>
      <p:ext uri="{BB962C8B-B14F-4D97-AF65-F5344CB8AC3E}">
        <p14:creationId xmlns:p14="http://schemas.microsoft.com/office/powerpoint/2010/main" val="124322166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684539-E42A-4D7B-A057-FEEF245B1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F7D5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F7D58"/>
                </a:solidFill>
                <a:latin typeface="Arial"/>
                <a:ea typeface="Arial"/>
                <a:cs typeface="Arial"/>
              </a:rPr>
              <a:t>MELODIA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7B1801-DA4D-43C8-B987-7B16EB6F8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287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6362B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26362B"/>
                </a:solidFill>
                <a:latin typeface="Arial"/>
                <a:ea typeface="Arial"/>
                <a:cs typeface="Arial"/>
              </a:rPr>
              <a:t>O produto já funciona e pode evoluir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31CD80-13D8-49C0-9C38-BD50AB091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C6A6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C6A60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1F61A2-A285-45C6-8EB0-582F0AA24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51435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5C9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F39DAA-0030-47B1-8352-ED8494FFB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09750"/>
            <a:ext cx="51435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DCE8D9"/>
          </a:solidFill>
          <a:ln xmlns:a="http://schemas.openxmlformats.org/drawingml/2006/main" w="9525">
            <a:solidFill>
              <a:srgbClr val="C8D5C9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E2F5B7-1CD7-43C8-A1F4-F881D9969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143125"/>
            <a:ext cx="400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02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3D2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3D2B"/>
                </a:solidFill>
                <a:latin typeface="Arial"/>
                <a:ea typeface="Arial"/>
                <a:cs typeface="Arial"/>
              </a:rPr>
              <a:t>Hoje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D654C2-BFCF-4AFC-862F-4115A95A9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143125"/>
            <a:ext cx="400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02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3D2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3D2B"/>
                </a:solidFill>
                <a:latin typeface="Arial"/>
                <a:ea typeface="Arial"/>
                <a:cs typeface="Arial"/>
              </a:rPr>
              <a:t>Próximo passo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DE4D47-EDE9-44D1-9263-40D6627EC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000375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6362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6362B"/>
                </a:solidFill>
                <a:latin typeface="Arial"/>
                <a:ea typeface="Arial"/>
                <a:cs typeface="Arial"/>
              </a:rPr>
              <a:t>Conversa em linguagem comum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8CF091-A7AA-4525-9B39-E47CAE50C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781425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6362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6362B"/>
                </a:solidFill>
                <a:latin typeface="Arial"/>
                <a:ea typeface="Arial"/>
                <a:cs typeface="Arial"/>
              </a:rPr>
              <a:t>Recomendações verificadas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9CA69A-25D1-48FA-8E5B-178E661C5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562475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6362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6362B"/>
                </a:solidFill>
                <a:latin typeface="Arial"/>
                <a:ea typeface="Arial"/>
                <a:cs typeface="Arial"/>
              </a:rPr>
              <a:t>Produto pronto para demonstração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7AB11E-6592-4891-BB70-B93FFA5EC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000375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6362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6362B"/>
                </a:solidFill>
                <a:latin typeface="Arial"/>
                <a:ea typeface="Arial"/>
                <a:cs typeface="Arial"/>
              </a:rPr>
              <a:t>Testar com pessoas reais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5B0A6E-486C-4782-B566-B598DA7CE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781425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6362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6362B"/>
                </a:solidFill>
                <a:latin typeface="Arial"/>
                <a:ea typeface="Arial"/>
                <a:cs typeface="Arial"/>
              </a:rPr>
              <a:t>Ouvir opiniões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0755CB-1F73-4687-949B-111BBC7BC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562475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6362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6362B"/>
                </a:solidFill>
                <a:latin typeface="Arial"/>
                <a:ea typeface="Arial"/>
                <a:cs typeface="Arial"/>
              </a:rPr>
              <a:t>Melhorar a personalização</a:t>
            </a:r>
          </a:p>
        </p:txBody>
      </p:sp>
    </p:spTree>
    <p:extLst>
      <p:ext uri="{BB962C8B-B14F-4D97-AF65-F5344CB8AC3E}">
        <p14:creationId xmlns:p14="http://schemas.microsoft.com/office/powerpoint/2010/main" val="863256218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9f6eacc0a04199"/>
          <a:srcRect xmlns:a="http://schemas.openxmlformats.org/drawingml/2006/main" l="0" t="7813" r="0" b="78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2222"/>
            </a:avLst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EA0439-F803-4751-8EBC-2C54A1C64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D2B">
              <a:alpha val="86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67A7F8-6F49-431B-92A0-213684D04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809750"/>
            <a:ext cx="9620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 que você pediria ao MelodIA?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49D360-A819-4489-BB37-0A69FF36B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048000"/>
            <a:ext cx="790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E7EBD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E7EBDD"/>
                </a:solidFill>
                <a:latin typeface="Arial"/>
                <a:ea typeface="Arial"/>
                <a:cs typeface="Arial"/>
              </a:rPr>
              <a:t>Experimente o produto e compartilhe sua percepção.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FC9581-225A-45DE-8CFA-FE5A78682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000500"/>
            <a:ext cx="323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A34A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ED7CE4-9E09-4484-82DA-F7AD4B349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619625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7A34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7A34A"/>
                </a:solidFill>
                <a:latin typeface="Arial"/>
                <a:ea typeface="Arial"/>
                <a:cs typeface="Arial"/>
              </a:rPr>
              <a:t>Grupo 8 · Residência em Inteligência Artificial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A09ABA-3048-4CA9-9889-315D9D85D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381625"/>
            <a:ext cx="266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Obrigado</a:t>
            </a:r>
          </a:p>
        </p:txBody>
      </p:sp>
    </p:spTree>
    <p:extLst>
      <p:ext uri="{BB962C8B-B14F-4D97-AF65-F5344CB8AC3E}">
        <p14:creationId xmlns:p14="http://schemas.microsoft.com/office/powerpoint/2010/main" val="21058002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2026-09-04T14:03:36.1030000Z</dcterms:created>
  <dcterms:modified xsi:type="dcterms:W3CDTF">2026-09-04T14:03:36.1030000Z</dcterms:modified>
</coreProperties>
</file>