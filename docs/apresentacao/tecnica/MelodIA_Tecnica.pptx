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5c6f5679a94d99" /><Relationship Type="http://schemas.openxmlformats.org/officeDocument/2006/relationships/extended-properties" Target="/docProps/app.xml" Id="R0d3bf853fff64402" /><Relationship Type="http://schemas.openxmlformats.org/officeDocument/2006/relationships/officeDocument" Target="/ppt/presentation.xml" Id="R303b72aa112743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317c61c844435b"/>
  </p:sldMasterIdLst>
  <p:notesMasterIdLst>
    <p:notesMasterId xmlns:r="http://schemas.openxmlformats.org/officeDocument/2006/relationships" r:id="R37a19f6355954a69"/>
  </p:notesMasterIdLst>
  <p:sldIdLst>
    <p:sldId xmlns:r="http://schemas.openxmlformats.org/officeDocument/2006/relationships" id="256" r:id="R05581e986a5d4176"/>
    <p:sldId xmlns:r="http://schemas.openxmlformats.org/officeDocument/2006/relationships" id="257" r:id="R41f804d5c2aa48f1"/>
    <p:sldId xmlns:r="http://schemas.openxmlformats.org/officeDocument/2006/relationships" id="258" r:id="R755a7c7f37204752"/>
    <p:sldId xmlns:r="http://schemas.openxmlformats.org/officeDocument/2006/relationships" id="259" r:id="R5e91e832e42348d7"/>
    <p:sldId xmlns:r="http://schemas.openxmlformats.org/officeDocument/2006/relationships" id="260" r:id="Ra89c38938a074c1f"/>
    <p:sldId xmlns:r="http://schemas.openxmlformats.org/officeDocument/2006/relationships" id="261" r:id="Rcfc577a5a1564296"/>
    <p:sldId xmlns:r="http://schemas.openxmlformats.org/officeDocument/2006/relationships" id="262" r:id="R9e948b2db1ba4397"/>
    <p:sldId xmlns:r="http://schemas.openxmlformats.org/officeDocument/2006/relationships" id="263" r:id="Rc4e7111b78f9482b"/>
    <p:sldId xmlns:r="http://schemas.openxmlformats.org/officeDocument/2006/relationships" id="264" r:id="R47507d45ed344391"/>
    <p:sldId xmlns:r="http://schemas.openxmlformats.org/officeDocument/2006/relationships" id="265" r:id="Rf6e1dee9c47649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5d515d97054fba" /><Relationship Type="http://schemas.openxmlformats.org/officeDocument/2006/relationships/slideMaster" Target="/ppt/slideMasters/slideMaster1.xml" Id="Rcf317c61c844435b" /><Relationship Type="http://schemas.openxmlformats.org/officeDocument/2006/relationships/notesMaster" Target="/ppt/notesMasters/notesMaster1.xml" Id="R37a19f6355954a69" /><Relationship Type="http://schemas.openxmlformats.org/officeDocument/2006/relationships/presProps" Target="/ppt/presProps.xml" Id="R1358230434d94dc0" /><Relationship Type="http://schemas.openxmlformats.org/officeDocument/2006/relationships/tableStyles" Target="/ppt/tableStyles.xml" Id="Rd4a0f4ac12554b52" /><Relationship Type="http://schemas.openxmlformats.org/officeDocument/2006/relationships/slide" Target="/ppt/slides/slide1.xml" Id="R05581e986a5d4176" /><Relationship Type="http://schemas.openxmlformats.org/officeDocument/2006/relationships/slide" Target="/ppt/slides/slide2.xml" Id="R41f804d5c2aa48f1" /><Relationship Type="http://schemas.openxmlformats.org/officeDocument/2006/relationships/slide" Target="/ppt/slides/slide3.xml" Id="R755a7c7f37204752" /><Relationship Type="http://schemas.openxmlformats.org/officeDocument/2006/relationships/slide" Target="/ppt/slides/slide4.xml" Id="R5e91e832e42348d7" /><Relationship Type="http://schemas.openxmlformats.org/officeDocument/2006/relationships/slide" Target="/ppt/slides/slide5.xml" Id="Ra89c38938a074c1f" /><Relationship Type="http://schemas.openxmlformats.org/officeDocument/2006/relationships/slide" Target="/ppt/slides/slide6.xml" Id="Rcfc577a5a1564296" /><Relationship Type="http://schemas.openxmlformats.org/officeDocument/2006/relationships/slide" Target="/ppt/slides/slide7.xml" Id="R9e948b2db1ba4397" /><Relationship Type="http://schemas.openxmlformats.org/officeDocument/2006/relationships/slide" Target="/ppt/slides/slide8.xml" Id="Rc4e7111b78f9482b" /><Relationship Type="http://schemas.openxmlformats.org/officeDocument/2006/relationships/slide" Target="/ppt/slides/slide9.xml" Id="R47507d45ed344391" /><Relationship Type="http://schemas.openxmlformats.org/officeDocument/2006/relationships/slide" Target="/ppt/slides/slide10.xml" Id="Rf6e1dee9c47649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c9bb89502e41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94eb0feaaa4977" /><Relationship Type="http://schemas.openxmlformats.org/officeDocument/2006/relationships/notesMaster" Target="/ppt/notesMasters/notesMaster1.xml" Id="R7442cc26e8e549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678b558d4e42f6" /><Relationship Type="http://schemas.openxmlformats.org/officeDocument/2006/relationships/notesMaster" Target="/ppt/notesMasters/notesMaster1.xml" Id="R773e4991be2640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04b2b311a74e9b" /><Relationship Type="http://schemas.openxmlformats.org/officeDocument/2006/relationships/notesMaster" Target="/ppt/notesMasters/notesMaster1.xml" Id="Rf38d0fc7265040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907f511a5c4199" /><Relationship Type="http://schemas.openxmlformats.org/officeDocument/2006/relationships/notesMaster" Target="/ppt/notesMasters/notesMaster1.xml" Id="R4c584d96a64d45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18f97f54a5451a" /><Relationship Type="http://schemas.openxmlformats.org/officeDocument/2006/relationships/notesMaster" Target="/ppt/notesMasters/notesMaster1.xml" Id="R8d4f34dc66a844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e6ef44f35c4ed6" /><Relationship Type="http://schemas.openxmlformats.org/officeDocument/2006/relationships/notesMaster" Target="/ppt/notesMasters/notesMaster1.xml" Id="Re7c89a2ad2b943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3343802dfc412a" /><Relationship Type="http://schemas.openxmlformats.org/officeDocument/2006/relationships/notesMaster" Target="/ppt/notesMasters/notesMaster1.xml" Id="Re236c922b7f048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3de430790e44eb" /><Relationship Type="http://schemas.openxmlformats.org/officeDocument/2006/relationships/notesMaster" Target="/ppt/notesMasters/notesMaster1.xml" Id="R2fbca0100a3b4d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7688300d354044" /><Relationship Type="http://schemas.openxmlformats.org/officeDocument/2006/relationships/notesMaster" Target="/ppt/notesMasters/notesMaster1.xml" Id="R7d31d1c8938641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dce628fca24663" /><Relationship Type="http://schemas.openxmlformats.org/officeDocument/2006/relationships/notesMaster" Target="/ppt/notesMasters/notesMaster1.xml" Id="R3892b300ba4645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00:20</a:t>
            </a:r>
          </a:p>
          <a:p xmlns:a="http://schemas.openxmlformats.org/drawingml/2006/main">
            <a:r>
              <a:t>Notas de fala: Defina o escopo: do texto do usuário até sugestões verificáveis, com o LLM como componente opcional.</a:t>
            </a:r>
          </a:p>
          <a:p xmlns:a="http://schemas.openxmlformats.org/drawingml/2006/main">
            <a:r>
              <a:t>Fontes: docs/PIPELINE_AGENTE_PROPOSTA_B.md; docs/apresentacao/ROTEIRO_TECNICO.md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00:45</a:t>
            </a:r>
          </a:p>
          <a:p xmlns:a="http://schemas.openxmlformats.org/drawingml/2006/main">
            <a:r>
              <a:t>Notas de fala: Percorra interface, API, agente e dados. Posicione LLM e Spotify como integrações opcionais.</a:t>
            </a:r>
          </a:p>
          <a:p xmlns:a="http://schemas.openxmlformats.org/drawingml/2006/main">
            <a:r>
              <a:t>Fontes: spotify_explorer/frontend/src; agente_conversacional/main.py; agente_conversacional/recomendacao/dataset.py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01:05</a:t>
            </a:r>
          </a:p>
          <a:p xmlns:a="http://schemas.openxmlformats.org/drawingml/2006/main">
            <a:r>
              <a:t>Notas de fala: Conte uma mensagem ponta a ponta. Destaque validação, busca local, diversidade e explicação.</a:t>
            </a:r>
          </a:p>
          <a:p xmlns:a="http://schemas.openxmlformats.org/drawingml/2006/main">
            <a:r>
              <a:t>Fontes: agente_conversacional/main.py; agente_conversacional/pipeline.py; agente_conversacional/recomendacao/busca.py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00:50</a:t>
            </a:r>
          </a:p>
          <a:p xmlns:a="http://schemas.openxmlformats.org/drawingml/2006/main">
            <a:r>
              <a:t>Notas de fala: Separe claramente as partes previsíveis da parte linguística. Enfatize o limite de autoridade do modelo.</a:t>
            </a:r>
          </a:p>
          <a:p xmlns:a="http://schemas.openxmlformats.org/drawingml/2006/main">
            <a:r>
              <a:t>Fontes: docs/PIPELINE_AGENTE_PROPOSTA_B.md; agente_conversacional/interpretacao.py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00:45</a:t>
            </a:r>
          </a:p>
          <a:p xmlns:a="http://schemas.openxmlformats.org/drawingml/2006/main">
            <a:r>
              <a:t>Notas de fala: Mostre um exemplo de estrutura e explique que dados inválidos não seguem para a busca.</a:t>
            </a:r>
          </a:p>
          <a:p xmlns:a="http://schemas.openxmlformats.org/drawingml/2006/main">
            <a:r>
              <a:t>Fontes: agente_conversacional/modelos.py; agente_conversacional/interpretacao.py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00:50</a:t>
            </a:r>
          </a:p>
          <a:p xmlns:a="http://schemas.openxmlformats.org/drawingml/2006/main">
            <a:r>
              <a:t>Notas de fala: Explique a ideia de proximidade entre vetores, sem transformar a fórmula no centro da fala. O gráfico é didático, não um benchmark.</a:t>
            </a:r>
          </a:p>
          <a:p xmlns:a="http://schemas.openxmlformats.org/drawingml/2006/main">
            <a:r>
              <a:t>Fontes: agente_conversacional/recomendacao/busca.py; data/analytics/dataset_profile.json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00:50</a:t>
            </a:r>
          </a:p>
          <a:p xmlns:a="http://schemas.openxmlformats.org/drawingml/2006/main">
            <a:r>
              <a:t>Notas de fala: Use os quatro blocos para explicar como o sistema degrada com segurança e como o grupo investiga falhas.</a:t>
            </a:r>
          </a:p>
          <a:p xmlns:a="http://schemas.openxmlformats.org/drawingml/2006/main">
            <a:r>
              <a:t>Fontes: docs/PIPELINE_AGENTE_PROPOSTA_B.md; agente_conversacional/observabilidade.py; agente_conversacional/recomendacao/diversidade.py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00:40</a:t>
            </a:r>
          </a:p>
          <a:p xmlns:a="http://schemas.openxmlformats.org/drawingml/2006/main">
            <a:r>
              <a:t>Notas de fala: Resuma o fluxo OAuth com PKCE e explique que tokens permanecem no backend. Não exiba credenciais.</a:t>
            </a:r>
          </a:p>
          <a:p xmlns:a="http://schemas.openxmlformats.org/drawingml/2006/main">
            <a:r>
              <a:t>Fontes: agente_conversacional/spotify_auth.py; agente_conversacional/README.md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01:30</a:t>
            </a:r>
          </a:p>
          <a:p xmlns:a="http://schemas.openxmlformats.org/drawingml/2006/main">
            <a:r>
              <a:t>Notas de fala: Abra o notebook já executado. Reexecute somente as células de perfil e correlação; se o kernel falhar, explique o mapa já incorporado.</a:t>
            </a:r>
          </a:p>
          <a:p xmlns:a="http://schemas.openxmlformats.org/drawingml/2006/main">
            <a:r>
              <a:t>Fontes: analise_exploratoria.ipynb; images/correlation_heatmap.png; data/analytics/dataset_profile.json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00:25</a:t>
            </a:r>
          </a:p>
          <a:p xmlns:a="http://schemas.openxmlformats.org/drawingml/2006/main">
            <a:r>
              <a:t>Notas de fala: Feche com o que já é verificável, os limites conhecidos e a agenda de evolução. Abra para perguntas.</a:t>
            </a:r>
          </a:p>
          <a:p xmlns:a="http://schemas.openxmlformats.org/drawingml/2006/main">
            <a:r>
              <a:t>Fontes: agente_conversacional/test_*.py; scripts/validate_notebook_demo.py; scripts/run_notebook_demo.py; docs/apresentacao/ROTEIRO_TECNICO.md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280c532d0f42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667267a31141fd" /><Relationship Type="http://schemas.openxmlformats.org/officeDocument/2006/relationships/slideLayout" Target="/ppt/slideLayouts/slideLayout1.xml" Id="Rc3e6eb232e1c4b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e6eb232e1c4b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d4e3a93a84926" /><Relationship Type="http://schemas.openxmlformats.org/officeDocument/2006/relationships/notesSlide" Target="/ppt/notesSlides/notesSlide1.xml" Id="Re5a75de2befd48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3b3c5c4cd3477e" /><Relationship Type="http://schemas.openxmlformats.org/officeDocument/2006/relationships/notesSlide" Target="/ppt/notesSlides/notesSlide2.xml" Id="Reba2abb01dcb4d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2d39aaac5a4486" /><Relationship Type="http://schemas.openxmlformats.org/officeDocument/2006/relationships/notesSlide" Target="/ppt/notesSlides/notesSlide3.xml" Id="R8a041ccedd5e45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6f163e1c54665" /><Relationship Type="http://schemas.openxmlformats.org/officeDocument/2006/relationships/notesSlide" Target="/ppt/notesSlides/notesSlide4.xml" Id="R761bf4e0146b4b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3b240337154e0c" /><Relationship Type="http://schemas.openxmlformats.org/officeDocument/2006/relationships/notesSlide" Target="/ppt/notesSlides/notesSlide5.xml" Id="Rfcc2206bb23942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f15141e014a25" /><Relationship Type="http://schemas.openxmlformats.org/officeDocument/2006/relationships/chart" Target="/ppt/slides/charts/chart1.xml" Id="R6636ab992e0d4d01" /><Relationship Type="http://schemas.openxmlformats.org/officeDocument/2006/relationships/notesSlide" Target="/ppt/notesSlides/notesSlide6.xml" Id="R2deef80f069348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125ef7ea44698" /><Relationship Type="http://schemas.openxmlformats.org/officeDocument/2006/relationships/notesSlide" Target="/ppt/notesSlides/notesSlide7.xml" Id="R4d4fd9b4a1d844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64285ba5e468c" /><Relationship Type="http://schemas.openxmlformats.org/officeDocument/2006/relationships/notesSlide" Target="/ppt/notesSlides/notesSlide8.xml" Id="R4401024237364f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765de9d5f46a9" /><Relationship Type="http://schemas.openxmlformats.org/officeDocument/2006/relationships/image" Target="/ppt/media/image.png" Id="R870d61e981014373" /><Relationship Type="http://schemas.openxmlformats.org/officeDocument/2006/relationships/notesSlide" Target="/ppt/notesSlides/notesSlide9.xml" Id="R41a6e34cb15949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08fd10b1248ba" /><Relationship Type="http://schemas.openxmlformats.org/officeDocument/2006/relationships/notesSlide" Target="/ppt/notesSlides/notesSlide10.xml" Id="R34a1adae550f4a5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Peso ilustrativo</c:v>
          </c:tx>
          <c:spPr>
            <a:solidFill xmlns:a="http://schemas.openxmlformats.org/drawingml/2006/main">
              <a:srgbClr val="2A78D6"/>
            </a:solidFill>
          </c:spPr>
          <c:cat>
            <c:strRef>
              <c:f>'Chart Data'!$A$2:$A$3</c:f>
              <c:strCache>
                <c:ptCount val="2"/>
                <c:pt idx="0">
                  <c:v>Preferência do pedido</c:v>
                </c:pt>
                <c:pt idx="1">
                  <c:v>Histórico do perfil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5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DBFD5-B31D-4579-8AD7-761EDEF7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3820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908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MelodIA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C45D58-6C8E-4FF6-84B5-69A7C98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52625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do agente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 uso responsável de LLM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5CB61-FA9E-48B1-AF82-89D64A1F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685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3ECE5-E29B-4739-88E7-97A64A04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DC56A"/>
                </a:solidFill>
                <a:latin typeface="Arial"/>
                <a:ea typeface="Arial"/>
                <a:cs typeface="Arial"/>
              </a:rPr>
              <a:t>Apresentação técnica · 8 minutos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F9648-B74D-4F44-B0B4-154990A2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625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18AEC-FB53-4C8D-9128-2D9F3901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 8</a:t>
            </a:r>
          </a:p>
        </p:txBody>
      </p:sp>
    </p:spTree>
    <p:extLst>
      <p:ext uri="{BB962C8B-B14F-4D97-AF65-F5344CB8AC3E}">
        <p14:creationId xmlns:p14="http://schemas.microsoft.com/office/powerpoint/2010/main" val="4256551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AF1A0-28CC-412B-A0B7-91D03418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ARQUITETURA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DE09D5-A2EB-4123-9816-8228445C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Componentes atuais do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1E0B1-4D99-414C-9574-0C2987B9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AE848-CEFE-46F8-97C1-8C9CD8FF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907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ED41C-B528-40EC-8CF9-3ADFEA4F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Interface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84A60-1F9A-48E3-9DA5-163FC642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React / experiência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5DFB7-99EC-4B8C-B3C1-2F23CCF4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48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EB283-AD88-4124-96AF-173C2C70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1907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A069F-ECAF-4F3C-B1B9-87AD6A6C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4765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94FC2-7A22-438D-B98F-30586F2B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289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FastAPI / sessões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16CB5-5C23-4140-B8C5-F66F12D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048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9EEE1-DBE4-49AA-AB3B-42C77EE0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907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DCEBFA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163087-6ABB-41AD-ACA9-3EBB0B5B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Agente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021B1-810C-48C9-84D1-E1A5CEB7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289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32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interpretação + regras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57419-3C4C-4D7C-AC32-412C6485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48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6877F9-24AD-4E86-B42D-7EFF5853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1907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C90229-C681-48F5-BC65-04B89203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4765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03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Dados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23EEF-4CB7-4A2E-A1AD-1423C520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289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CSV processado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7E65B-6F6D-442C-95B5-27562CED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572000"/>
            <a:ext cx="83439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7150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3D8233-DFAD-4B86-962C-5A72EB76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053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84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LLM e Spotify são integrações opcionais; o núcleo local continua utilizável.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CC0AE-0435-4A05-8B56-EE960601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Separar componentes deixa falhas isoladas e caminhos de contingência claros</a:t>
            </a:r>
          </a:p>
        </p:txBody>
      </p:sp>
    </p:spTree>
    <p:extLst>
      <p:ext uri="{BB962C8B-B14F-4D97-AF65-F5344CB8AC3E}">
        <p14:creationId xmlns:p14="http://schemas.microsoft.com/office/powerpoint/2010/main" val="14820602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6FBD67-C967-4558-AF73-6310388B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280A9-956A-4145-A367-9AABD947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Fluxo completo de uma mensagem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CD903-FCAE-4828-981B-DED39E72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D36E8B-B434-4A2F-B9FF-000FC0C5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F4028-1989-4B86-9AFF-8DAE6050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5D4D90-4218-4C16-A919-00AEB08B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9560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Receber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5BFB1-95B7-4A7B-B362-EF28767E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91465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8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B063F-8978-4B25-A246-19EC4E91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8125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1EC9B-6B88-4E03-AF6D-3E9D90E6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C35EA-3AC0-44F2-A593-7714B714E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9560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Validar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3FBAF2-A3B3-40D8-BF6D-71774F63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91465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8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9F7B0D-50DB-4B30-A499-D6F6B011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8125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5CE5C3-718D-4582-92B3-72ACD808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CD71A0-6866-4382-B2CE-18C9548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815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Interpretar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9C10FE-976B-4A81-8BBA-814176B0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91465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8D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E882C-C8DC-4411-912C-A127374D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8125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244564-4191-4954-89A2-7EA55A6D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3DF3D5-0BA3-4E1F-AD46-2DA98439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9560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Buscar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A0602B-7FA7-401B-90CC-09CDA500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1465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8D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392077-C588-449B-847A-E7C64F48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42B801-D572-45D7-A151-3A85CEDD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80E8F1-3F79-44E7-BF86-B024E949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9560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9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Diversificar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E6F615-6A1A-421E-AF95-AF9B74AE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1465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78D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8034F7-3C62-4EC9-91C3-995D9321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381250"/>
            <a:ext cx="1600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0E7CC2-153D-49E1-ADE2-69D3842B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D28030-731A-4B0E-917E-75E47224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89560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Explicar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44F392-8D5E-4CDC-86E2-245FEC18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6720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Entrada e saída são registradas com identificadores técnicos, sem precisar guardar a conversa inteira.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FAF21F-35C4-4E70-ADFB-BD865859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334000"/>
            <a:ext cx="39624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66B55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8BD921-CD69-4591-8A60-AABE7F39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362575"/>
            <a:ext cx="3733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FALLBACK EM CADA FRONTEIRA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D15CA6-120A-4B33-AF65-5EA98B6E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Cada etapa tem uma responsabilidade específica</a:t>
            </a:r>
          </a:p>
        </p:txBody>
      </p:sp>
    </p:spTree>
    <p:extLst>
      <p:ext uri="{BB962C8B-B14F-4D97-AF65-F5344CB8AC3E}">
        <p14:creationId xmlns:p14="http://schemas.microsoft.com/office/powerpoint/2010/main" val="629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5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64FB0F-9C65-4D76-8239-CBE6F1E6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RESPONSABILIDADES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5FD8F-05FE-426A-B8D2-7D69BC15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 que é regra e onde o LLM entra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C958BF-68A6-4448-8EE7-A7D9A07A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6599B-7152-429A-B9F0-73BF40D2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7162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Determinístico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BC07D-EB6E-4A17-8B8D-85D40878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86000"/>
            <a:ext cx="3429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valida o contrato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filtra o catálogo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calcula o ranking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aplica diversidade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monta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5B37C-1656-41AC-9C5D-DB332420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81150"/>
            <a:ext cx="1905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67F31B-366E-4A48-8114-E38A9BE7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419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LLM opcional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27876-74DC-4ACF-8BE8-72D3FF9B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86000"/>
            <a:ext cx="3714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converte texto livre em estrutura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recebe contexto limitado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devolve JSON esperado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cai para regras se falhar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8A947-DE4E-492B-B3EF-857F9495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381625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Decisão central: o LLM interpreta; o código decide.</a:t>
            </a:r>
          </a:p>
        </p:txBody>
      </p:sp>
    </p:spTree>
    <p:extLst>
      <p:ext uri="{BB962C8B-B14F-4D97-AF65-F5344CB8AC3E}">
        <p14:creationId xmlns:p14="http://schemas.microsoft.com/office/powerpoint/2010/main" val="1264260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90CC00-8696-47E2-8295-4A711B5C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LLM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5BA2E-B948-4780-BCC4-35DC8548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Extração estruturada e contrato 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4B16B-F959-428F-9859-6907896D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860D7-4777-4336-B399-3B64BACB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57150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17150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26678-F148-44EB-88C1-3313D0B2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52625"/>
            <a:ext cx="49530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{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"generos": ["pagode"],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"mood": "animado",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"energia": "alta",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"limite": 3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F350B-EF17-4073-8D32-B7B65EA5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145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73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Validação antes de usar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44EA4-78FA-4CAA-B45E-9101B14C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81250"/>
            <a:ext cx="4191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00D26-445F-432A-B46F-0EA938F9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98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B83BE-AD03-42D8-B877-FAFABA7C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campos conhecidos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64B513-A47E-4F9F-A268-FF693A72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67050"/>
            <a:ext cx="4191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3062D-1840-40FC-A3FA-F80EB708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956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EDB453-5B02-4942-92FE-6025646D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384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tipos e limites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8D4947-EFF0-431B-9372-D3D6C65C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52850"/>
            <a:ext cx="4191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364874-4572-4B36-9B11-31531E5D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81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A76BD-0E61-4E11-82F2-C3C1EA0A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242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normalização de gênero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8FAA9D-0788-41A7-884D-D8248265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4191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66B5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73F03C-4198-4456-A9E1-3109A2E6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672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BA3E8-D6BD-492C-BE9A-A7B0653E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1007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fallback seguro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716504-8A9D-4352-9D6F-5348B4E7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O JSON é uma proposta do modelo; a aplicação valida antes de confiar</a:t>
            </a:r>
          </a:p>
        </p:txBody>
      </p:sp>
    </p:spTree>
    <p:extLst>
      <p:ext uri="{BB962C8B-B14F-4D97-AF65-F5344CB8AC3E}">
        <p14:creationId xmlns:p14="http://schemas.microsoft.com/office/powerpoint/2010/main" val="19605929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8D0A7-C5D6-4411-8238-D7476A91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RECOMENDAÇÃO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A6E73-34AE-4FB0-9C7E-03FAAFB2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Similaridade por cosseno e perfil do usuário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2C0CC-C97E-4E3F-AF1A-3E8D85EA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5810250" cy="3571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636ab992e0d4d0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2E172-D313-47F0-B227-4B7C46AC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695450"/>
            <a:ext cx="44958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EAF0B-28B1-4025-88B4-106A6600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14550"/>
            <a:ext cx="381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35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cos(θ) = (u · faixa) / (|u| |faixa|)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957A4-5D4E-4CF2-8C2E-1D273152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48000"/>
            <a:ext cx="3524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67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4221D"/>
                </a:solidFill>
                <a:latin typeface="Arial"/>
                <a:ea typeface="Arial"/>
                <a:cs typeface="Arial"/>
              </a:rPr>
              <a:t>O sistema compara vetores normalizados em memória. Não depende de um serviço externo de k-NN.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AB481-FA64-4630-9F9B-C1D33AD4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629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582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128.830 registros · 97.534 faixas únicas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C9D96-3CD6-42E5-ACDD-CAD0E572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Os pesos exibidos são didáticos; a implementação real usa seus parâmetros configurados</a:t>
            </a:r>
          </a:p>
        </p:txBody>
      </p:sp>
    </p:spTree>
    <p:extLst>
      <p:ext uri="{BB962C8B-B14F-4D97-AF65-F5344CB8AC3E}">
        <p14:creationId xmlns:p14="http://schemas.microsoft.com/office/powerpoint/2010/main" val="12786877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DF5197-CA72-45CF-A461-98F31C05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83B83-0E08-4776-835A-CA98AB33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Fallback, auditoria, diversidade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97DE8-E8E2-4798-9975-30FED84D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2E88A-E06E-41EB-89D6-A482ECCE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2476500" cy="31623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8732D-7EE0-4692-A60B-7BF61474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2476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B55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F53C9-8ED0-4209-9541-C1B6EB7D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171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Fallback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64546-1C56-439C-B4CB-44C57A85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0193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regras locais quando integração falha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DFBC9D-9A05-4194-9A5D-62449942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09750"/>
            <a:ext cx="2476500" cy="31623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BA820E-FF91-437A-8FD9-90A1C066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09750"/>
            <a:ext cx="2476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68FFB-397C-4DE2-B1E7-1DA56F2D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190750"/>
            <a:ext cx="2171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Auditoria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3CBDCC-EBAF-4F64-891C-0FDD57BA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952750"/>
            <a:ext cx="20193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IDs, origem e decisões do fluxo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F13DF-52A2-4E14-B4F8-03B2546A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9750"/>
            <a:ext cx="2476500" cy="31623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A8D7B-6F31-4F10-AEC6-9466F1B3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9750"/>
            <a:ext cx="2476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B95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E6D93F-3697-4DA4-807A-566778A6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90750"/>
            <a:ext cx="2171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Diversidade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A5CE4F-F247-4DE1-ABEC-ECC98E8E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52750"/>
            <a:ext cx="20193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limites para evitar repetição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4458F1-C891-4BF9-B062-FE00A379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1809750"/>
            <a:ext cx="2476500" cy="31623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C5C29-BC6E-43A6-BDAA-A005E6B0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1809750"/>
            <a:ext cx="2476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C56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95807D-D4CF-4E53-98D1-BD14E460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90750"/>
            <a:ext cx="2171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AEE3E-7E02-4917-8697-16B1433F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952750"/>
            <a:ext cx="20193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tempo, erro e estágio atingido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0BC01A-87E5-4C8D-836A-ADD6E8C7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911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Falhar com clareza é parte da arquitetura.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0753C6-5FEC-4841-8F66-9332BE5A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Controles pensados para operação e investigação de problemas</a:t>
            </a:r>
          </a:p>
        </p:txBody>
      </p:sp>
    </p:spTree>
    <p:extLst>
      <p:ext uri="{BB962C8B-B14F-4D97-AF65-F5344CB8AC3E}">
        <p14:creationId xmlns:p14="http://schemas.microsoft.com/office/powerpoint/2010/main" val="315375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5B98FA-0540-4EE0-B8ED-74F1557B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INTEGRAÇÃO SPOTIFY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C978A-C10D-4A57-8D11-EC6B0E7B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OAuth, PKCE, tokens e privacidade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002CA-5DEB-4AB7-806C-C5B31095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97DF0-5BC6-4A47-9096-B0CF04E7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2381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339657-8F47-4295-BE08-3AD9C968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82AF96-D928-420D-94BD-1285461E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Usuário autoriza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F769B-556F-4686-A7E5-30EB9255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0512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DD5F2-5500-4A8E-A69B-349F9EA1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095500"/>
            <a:ext cx="2381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CCFA9-86D6-46DF-A84B-146A03F3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3050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4AC83-FA08-4BE6-89CF-5EE9F3A2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813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PKCE protege o código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E395F-4158-4C34-9CD0-65A3D2C5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90512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75C74-606B-46C7-A888-AF78873F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95500"/>
            <a:ext cx="2381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5AD606-B541-4707-B04A-F98A3C86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050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7F21C5-6F9D-4886-9ABB-2367CEDF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Backend troca por token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695BBB-FDF9-4123-8905-8E73FB3D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05125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0EE103-FB82-4337-BA47-CF95EB12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095500"/>
            <a:ext cx="23812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DB954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0D680-6694-4410-9D19-AD38E302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3050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8D195-890B-414B-88B5-10374CCA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781300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Token fica no servidor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70F684-CCEE-4FDF-850C-710481E4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29125"/>
            <a:ext cx="861060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17150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AD75D-D7C1-4D1B-B99C-0EC26ECE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600575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609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Sem autorização, a recomendação local continua disponível.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DB0614-A3EB-4E07-8589-425C92CB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PKCE reduz o risco de interceptação; segredos não vão para o navegador</a:t>
            </a:r>
          </a:p>
        </p:txBody>
      </p:sp>
    </p:spTree>
    <p:extLst>
      <p:ext uri="{BB962C8B-B14F-4D97-AF65-F5344CB8AC3E}">
        <p14:creationId xmlns:p14="http://schemas.microsoft.com/office/powerpoint/2010/main" val="18498594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149FCF-FC67-443D-ADA4-7E1EF76D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DEMONSTRAÇÃO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61374-D390-49B7-B4CF-57BDCB39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Notebook: perfil e correlação em dois passos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E74CE-6E51-4F3E-B455-B3D19AE2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d61e981014373"/>
          <a:stretch xmlns:a="http://schemas.openxmlformats.org/drawingml/2006/main"/>
        </p:blipFill>
        <p:spPr>
          <a:xfrm xmlns:a="http://schemas.openxmlformats.org/drawingml/2006/main">
            <a:off x="1541859" y="1524000"/>
            <a:ext cx="4822031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0D6EE7-E3E2-4448-A679-B0F155D6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19250"/>
            <a:ext cx="37147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EA32D-7CB9-439A-8C0C-EF216DEF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00250"/>
            <a:ext cx="4191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978F4-10E1-403B-AF90-1E862754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288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9F79A-E3FE-4E62-9BF2-145AD7E4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431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Perfil do conjunto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4C5622-74A0-4DF7-8191-CD8C073E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221D"/>
                </a:solidFill>
                <a:latin typeface="Arial"/>
                <a:ea typeface="Arial"/>
                <a:cs typeface="Arial"/>
              </a:rPr>
              <a:t>128.830 registros</a:t>
            </a:r>
          </a:p>
          <a:p xmlns:a="http://schemas.openxmlformats.org/drawingml/2006/main">
            <a:pPr algn="ctr">
              <a:defRPr sz="1950" b="0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221D"/>
                </a:solidFill>
                <a:latin typeface="Arial"/>
                <a:ea typeface="Arial"/>
                <a:cs typeface="Arial"/>
              </a:rPr>
              <a:t>97.534 faixas únicas</a:t>
            </a:r>
          </a:p>
          <a:p xmlns:a="http://schemas.openxmlformats.org/drawingml/2006/main">
            <a:pPr algn="ctr">
              <a:defRPr sz="1950" b="0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4221D"/>
                </a:solidFill>
                <a:latin typeface="Arial"/>
                <a:ea typeface="Arial"/>
                <a:cs typeface="Arial"/>
              </a:rPr>
              <a:t>118 gêneros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A040BF-F8C8-4A4C-AD04-82211174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00500"/>
            <a:ext cx="4191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E2CCA-A3CA-459B-876E-BE62D583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2907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7DB05-0D20-4013-96D3-6CF727C2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433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Correlação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DFB912-6D64-4340-9AA8-5A455297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76750"/>
            <a:ext cx="295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55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reexecutar apenas</a:t>
            </a:r>
          </a:p>
          <a:p xmlns:a="http://schemas.openxmlformats.org/drawingml/2006/main">
            <a:pPr algn="ctr">
              <a:defRPr sz="1725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as células selecionadas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802AA9-782A-4E39-8282-34C36FA9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619750"/>
            <a:ext cx="40481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66B55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C275A7-AC98-4A80-A058-C4AECA35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48325"/>
            <a:ext cx="3819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PLANO B: IMAGEM JÁ GERADA</a:t>
            </a:r>
          </a:p>
        </p:txBody>
      </p:sp>
    </p:spTree>
    <p:extLst>
      <p:ext uri="{BB962C8B-B14F-4D97-AF65-F5344CB8AC3E}">
        <p14:creationId xmlns:p14="http://schemas.microsoft.com/office/powerpoint/2010/main" val="3501603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5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5423FD-CE81-4984-82B2-62DF73DF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FECHAMENTO TÉCNICO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C2B83-E73E-439B-A2A8-BF966E3E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Testes, limitações e evolução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817A7-93F3-4865-A971-2EAE1F84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E6C73-2982-4635-84BE-965B8809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91755-4BAB-4944-8438-12F3D498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819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testes do pipeline</a:t>
            </a:r>
          </a:p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validação do notebook</a:t>
            </a:r>
          </a:p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prévia da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0FB53-400E-416B-A4C9-2A9A8640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145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Limitações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43875-5C95-4B60-B987-004D0A9A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76500"/>
            <a:ext cx="2819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LLM e rede variam</a:t>
            </a:r>
          </a:p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OAuth exige configuração</a:t>
            </a:r>
          </a:p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avaliação humana pendente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26941-1E4F-4DAC-82FA-A6EF83F9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2F9DA-37BA-4D36-A538-A9870A48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76500"/>
            <a:ext cx="2819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métricas de qualidade</a:t>
            </a:r>
          </a:p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feedback do usuário</a:t>
            </a:r>
          </a:p>
          <a:p xmlns:a="http://schemas.openxmlformats.org/drawingml/2006/main">
            <a:pPr algn="ctr">
              <a:defRPr sz="1950" b="0">
                <a:solidFill>
                  <a:srgbClr val="D8D3C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8D3C8"/>
                </a:solidFill>
                <a:latin typeface="Arial"/>
                <a:ea typeface="Arial"/>
                <a:cs typeface="Arial"/>
              </a:rPr>
              <a:t>testes de carga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58D541-DF08-4FB7-8FCD-562FF44E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9B4F1F-EAEE-4E80-A1AD-18E2F2B8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816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895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 objetivo não é esconder limites — é controlá-los e medi-los.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03B79-C917-40EB-8706-BF51E739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00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Perguntas?</a:t>
            </a:r>
          </a:p>
        </p:txBody>
      </p:sp>
    </p:spTree>
    <p:extLst>
      <p:ext uri="{BB962C8B-B14F-4D97-AF65-F5344CB8AC3E}">
        <p14:creationId xmlns:p14="http://schemas.microsoft.com/office/powerpoint/2010/main" val="9058047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2026-09-04T13:05:58.9820000Z</dcterms:created>
  <dcterms:modified xsi:type="dcterms:W3CDTF">2026-09-04T13:05:58.9820000Z</dcterms:modified>
</coreProperties>
</file>