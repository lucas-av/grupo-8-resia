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81492a2f8d452f" /><Relationship Type="http://schemas.openxmlformats.org/officeDocument/2006/relationships/extended-properties" Target="/docProps/app.xml" Id="R89ada935aa224555" /><Relationship Type="http://schemas.openxmlformats.org/officeDocument/2006/relationships/officeDocument" Target="/ppt/presentation.xml" Id="R482d2d0b9c6247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5ce5b8b2044f7e"/>
  </p:sldMasterIdLst>
  <p:notesMasterIdLst>
    <p:notesMasterId xmlns:r="http://schemas.openxmlformats.org/officeDocument/2006/relationships" r:id="R2f5b77f448464c69"/>
  </p:notesMasterIdLst>
  <p:sldIdLst>
    <p:sldId xmlns:r="http://schemas.openxmlformats.org/officeDocument/2006/relationships" id="256" r:id="R366f62cb92c64a9b"/>
    <p:sldId xmlns:r="http://schemas.openxmlformats.org/officeDocument/2006/relationships" id="257" r:id="R43fc19e45d6a468f"/>
    <p:sldId xmlns:r="http://schemas.openxmlformats.org/officeDocument/2006/relationships" id="258" r:id="Rfefbfd89344143b8"/>
    <p:sldId xmlns:r="http://schemas.openxmlformats.org/officeDocument/2006/relationships" id="259" r:id="R853239003284451b"/>
    <p:sldId xmlns:r="http://schemas.openxmlformats.org/officeDocument/2006/relationships" id="260" r:id="R9813d79a90944105"/>
    <p:sldId xmlns:r="http://schemas.openxmlformats.org/officeDocument/2006/relationships" id="261" r:id="Rc7fad868477d4bde"/>
    <p:sldId xmlns:r="http://schemas.openxmlformats.org/officeDocument/2006/relationships" id="262" r:id="R98950e3d13544864"/>
    <p:sldId xmlns:r="http://schemas.openxmlformats.org/officeDocument/2006/relationships" id="263" r:id="Re91a93b2ca1a49ba"/>
    <p:sldId xmlns:r="http://schemas.openxmlformats.org/officeDocument/2006/relationships" id="264" r:id="R5544ce485b694d37"/>
    <p:sldId xmlns:r="http://schemas.openxmlformats.org/officeDocument/2006/relationships" id="265" r:id="Rdd10a725b8f1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a2d85eb744cb1" /><Relationship Type="http://schemas.openxmlformats.org/officeDocument/2006/relationships/slideMaster" Target="/ppt/slideMasters/slideMaster1.xml" Id="R235ce5b8b2044f7e" /><Relationship Type="http://schemas.openxmlformats.org/officeDocument/2006/relationships/notesMaster" Target="/ppt/notesMasters/notesMaster1.xml" Id="R2f5b77f448464c69" /><Relationship Type="http://schemas.openxmlformats.org/officeDocument/2006/relationships/presProps" Target="/ppt/presProps.xml" Id="Re2b63c352dae477e" /><Relationship Type="http://schemas.openxmlformats.org/officeDocument/2006/relationships/tableStyles" Target="/ppt/tableStyles.xml" Id="Rb0ed6e9a23a447a0" /><Relationship Type="http://schemas.openxmlformats.org/officeDocument/2006/relationships/slide" Target="/ppt/slides/slide1.xml" Id="R366f62cb92c64a9b" /><Relationship Type="http://schemas.openxmlformats.org/officeDocument/2006/relationships/slide" Target="/ppt/slides/slide2.xml" Id="R43fc19e45d6a468f" /><Relationship Type="http://schemas.openxmlformats.org/officeDocument/2006/relationships/slide" Target="/ppt/slides/slide3.xml" Id="Rfefbfd89344143b8" /><Relationship Type="http://schemas.openxmlformats.org/officeDocument/2006/relationships/slide" Target="/ppt/slides/slide4.xml" Id="R853239003284451b" /><Relationship Type="http://schemas.openxmlformats.org/officeDocument/2006/relationships/slide" Target="/ppt/slides/slide5.xml" Id="R9813d79a90944105" /><Relationship Type="http://schemas.openxmlformats.org/officeDocument/2006/relationships/slide" Target="/ppt/slides/slide6.xml" Id="Rc7fad868477d4bde" /><Relationship Type="http://schemas.openxmlformats.org/officeDocument/2006/relationships/slide" Target="/ppt/slides/slide7.xml" Id="R98950e3d13544864" /><Relationship Type="http://schemas.openxmlformats.org/officeDocument/2006/relationships/slide" Target="/ppt/slides/slide8.xml" Id="Re91a93b2ca1a49ba" /><Relationship Type="http://schemas.openxmlformats.org/officeDocument/2006/relationships/slide" Target="/ppt/slides/slide9.xml" Id="R5544ce485b694d37" /><Relationship Type="http://schemas.openxmlformats.org/officeDocument/2006/relationships/slide" Target="/ppt/slides/slide10.xml" Id="Rdd10a725b8f1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945562bc2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4a1dc95b1f4aa3" /><Relationship Type="http://schemas.openxmlformats.org/officeDocument/2006/relationships/notesMaster" Target="/ppt/notesMasters/notesMaster1.xml" Id="Raea0b533b38f49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0497ce637d45fa" /><Relationship Type="http://schemas.openxmlformats.org/officeDocument/2006/relationships/notesMaster" Target="/ppt/notesMasters/notesMaster1.xml" Id="R6452d1946eb746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3a90a82a134711" /><Relationship Type="http://schemas.openxmlformats.org/officeDocument/2006/relationships/notesMaster" Target="/ppt/notesMasters/notesMaster1.xml" Id="Rc4adb1442f5648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9d9c673b844d8f" /><Relationship Type="http://schemas.openxmlformats.org/officeDocument/2006/relationships/notesMaster" Target="/ppt/notesMasters/notesMaster1.xml" Id="R487d027e90f442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9bd1018f284bf0" /><Relationship Type="http://schemas.openxmlformats.org/officeDocument/2006/relationships/notesMaster" Target="/ppt/notesMasters/notesMaster1.xml" Id="R295cab5d2c1541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d9b594cfca4631" /><Relationship Type="http://schemas.openxmlformats.org/officeDocument/2006/relationships/notesMaster" Target="/ppt/notesMasters/notesMaster1.xml" Id="R54610e75051d44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84a47ef94646e1" /><Relationship Type="http://schemas.openxmlformats.org/officeDocument/2006/relationships/notesMaster" Target="/ppt/notesMasters/notesMaster1.xml" Id="Rabc4f5f2baa848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34e65596b4528" /><Relationship Type="http://schemas.openxmlformats.org/officeDocument/2006/relationships/notesMaster" Target="/ppt/notesMasters/notesMaster1.xml" Id="R16e82a2b585849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52d4a0a2f94cfe" /><Relationship Type="http://schemas.openxmlformats.org/officeDocument/2006/relationships/notesMaster" Target="/ppt/notesMasters/notesMaster1.xml" Id="R6699b4db1e754a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847b498d504235" /><Relationship Type="http://schemas.openxmlformats.org/officeDocument/2006/relationships/notesMaster" Target="/ppt/notesMasters/notesMaster1.xml" Id="Rb00e2669c207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00:20</a:t>
            </a:r>
          </a:p>
          <a:p xmlns:a="http://schemas.openxmlformats.org/drawingml/2006/main">
            <a:r>
              <a:t>Notas de fala: Defina o escopo: do texto do usuário até sugestões verificáveis, com o LLM como componente opcional.</a:t>
            </a:r>
          </a:p>
          <a:p xmlns:a="http://schemas.openxmlformats.org/drawingml/2006/main">
            <a:r>
              <a:t>Fontes: docs/PIPELINE_AGENTE_PROPOSTA_B.md; docs/apresentacao/ROTEIRO_TECNICO.md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00:45</a:t>
            </a:r>
          </a:p>
          <a:p xmlns:a="http://schemas.openxmlformats.org/drawingml/2006/main">
            <a:r>
              <a:t>Notas de fala: Percorra interface, API, agente e dados. Posicione LLM e Spotify como integrações opcionais.</a:t>
            </a:r>
          </a:p>
          <a:p xmlns:a="http://schemas.openxmlformats.org/drawingml/2006/main">
            <a:r>
              <a:t>Fontes: spotify_explorer/frontend/src; agente_conversacional/main.py; agente_conversacional/recomendacao/dataset.py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01:05</a:t>
            </a:r>
          </a:p>
          <a:p xmlns:a="http://schemas.openxmlformats.org/drawingml/2006/main">
            <a:r>
              <a:t>Notas de fala: Conte uma mensagem ponta a ponta. Destaque validação, busca local, diversidade e explicação.</a:t>
            </a:r>
          </a:p>
          <a:p xmlns:a="http://schemas.openxmlformats.org/drawingml/2006/main">
            <a:r>
              <a:t>Fontes: agente_conversacional/main.py; agente_conversacional/pipeline.py; agente_conversacional/recomendacao/busca.py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00:50</a:t>
            </a:r>
          </a:p>
          <a:p xmlns:a="http://schemas.openxmlformats.org/drawingml/2006/main">
            <a:r>
              <a:t>Notas de fala: Separe claramente as partes previsíveis da parte linguística. Enfatize o limite de autoridade do modelo.</a:t>
            </a:r>
          </a:p>
          <a:p xmlns:a="http://schemas.openxmlformats.org/drawingml/2006/main">
            <a:r>
              <a:t>Fontes: docs/PIPELINE_AGENTE_PROPOSTA_B.md; agente_conversacional/interpretacao.py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00:45</a:t>
            </a:r>
          </a:p>
          <a:p xmlns:a="http://schemas.openxmlformats.org/drawingml/2006/main">
            <a:r>
              <a:t>Notas de fala: Mostre um exemplo de estrutura e explique que dados inválidos não seguem para a busca.</a:t>
            </a:r>
          </a:p>
          <a:p xmlns:a="http://schemas.openxmlformats.org/drawingml/2006/main">
            <a:r>
              <a:t>Fontes: agente_conversacional/modelos.py; agente_conversacional/interpretacao.py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00:50</a:t>
            </a:r>
          </a:p>
          <a:p xmlns:a="http://schemas.openxmlformats.org/drawingml/2006/main">
            <a:r>
              <a:t>Notas de fala: Explique a ideia de proximidade entre vetores, sem transformar a fórmula no centro da fala. O gráfico é didático, não um benchmark.</a:t>
            </a:r>
          </a:p>
          <a:p xmlns:a="http://schemas.openxmlformats.org/drawingml/2006/main">
            <a:r>
              <a:t>Fontes: agente_conversacional/recomendacao/busca.py; data/analytics/dataset_profile.json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00:50</a:t>
            </a:r>
          </a:p>
          <a:p xmlns:a="http://schemas.openxmlformats.org/drawingml/2006/main">
            <a:r>
              <a:t>Notas de fala: Use os quatro blocos para explicar como o sistema degrada com segurança e como o grupo investiga falhas.</a:t>
            </a:r>
          </a:p>
          <a:p xmlns:a="http://schemas.openxmlformats.org/drawingml/2006/main">
            <a:r>
              <a:t>Fontes: docs/PIPELINE_AGENTE_PROPOSTA_B.md; agente_conversacional/observabilidade.py; agente_conversacional/recomendacao/diversidade.py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00:40</a:t>
            </a:r>
          </a:p>
          <a:p xmlns:a="http://schemas.openxmlformats.org/drawingml/2006/main">
            <a:r>
              <a:t>Notas de fala: Resuma o fluxo OAuth com PKCE e explique que tokens permanecem no backend. Não exiba credenciais.</a:t>
            </a:r>
          </a:p>
          <a:p xmlns:a="http://schemas.openxmlformats.org/drawingml/2006/main">
            <a:r>
              <a:t>Fontes: agente_conversacional/spotify_auth.py; agente_conversacional/README.md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01:30</a:t>
            </a:r>
          </a:p>
          <a:p xmlns:a="http://schemas.openxmlformats.org/drawingml/2006/main">
            <a:r>
              <a:t>Notas de fala: Abra o notebook já executado. Reexecute somente as células de perfil e correlação; se o kernel falhar, explique o mapa já incorporado.</a:t>
            </a:r>
          </a:p>
          <a:p xmlns:a="http://schemas.openxmlformats.org/drawingml/2006/main">
            <a:r>
              <a:t>Fontes: analise_exploratoria.ipynb; images/correlation_heatmap.png; data/analytics/dataset_profile.json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00:25</a:t>
            </a:r>
          </a:p>
          <a:p xmlns:a="http://schemas.openxmlformats.org/drawingml/2006/main">
            <a:r>
              <a:t>Notas de fala: Feche com o que já é verificável, os limites conhecidos e a agenda de evolução. Abra para perguntas.</a:t>
            </a:r>
          </a:p>
          <a:p xmlns:a="http://schemas.openxmlformats.org/drawingml/2006/main">
            <a:r>
              <a:t>Fontes: agente_conversacional/test_*.py; scripts/validate_notebook_demo.py; scripts/run_notebook_demo.py; docs/apresentacao/ROTEIRO_TECNICO.md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e1ccad13f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e0da951ce4d75" /><Relationship Type="http://schemas.openxmlformats.org/officeDocument/2006/relationships/slideLayout" Target="/ppt/slideLayouts/slideLayout1.xml" Id="R4131fec5251949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31fec5251949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4c90df9a844de" /><Relationship Type="http://schemas.openxmlformats.org/officeDocument/2006/relationships/notesSlide" Target="/ppt/notesSlides/notesSlide1.xml" Id="Rd483aece3fd344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0f3c047224e69" /><Relationship Type="http://schemas.openxmlformats.org/officeDocument/2006/relationships/notesSlide" Target="/ppt/notesSlides/notesSlide2.xml" Id="R4e6b573d836046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76885fb7444ce" /><Relationship Type="http://schemas.openxmlformats.org/officeDocument/2006/relationships/notesSlide" Target="/ppt/notesSlides/notesSlide3.xml" Id="R49061e78038143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93a4e0e694b14" /><Relationship Type="http://schemas.openxmlformats.org/officeDocument/2006/relationships/notesSlide" Target="/ppt/notesSlides/notesSlide4.xml" Id="Rfbac6c1f5c0a44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869b2bbc84d7d" /><Relationship Type="http://schemas.openxmlformats.org/officeDocument/2006/relationships/notesSlide" Target="/ppt/notesSlides/notesSlide5.xml" Id="Ree02c6e8152c43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ea18092454a2a" /><Relationship Type="http://schemas.openxmlformats.org/officeDocument/2006/relationships/chart" Target="/ppt/slides/charts/chart1.xml" Id="R768fcd83f9d6428f" /><Relationship Type="http://schemas.openxmlformats.org/officeDocument/2006/relationships/notesSlide" Target="/ppt/notesSlides/notesSlide6.xml" Id="R218dd6b7932148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39275e4fb4e28" /><Relationship Type="http://schemas.openxmlformats.org/officeDocument/2006/relationships/notesSlide" Target="/ppt/notesSlides/notesSlide7.xml" Id="Rc65005923f444f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2e4ba79464c12" /><Relationship Type="http://schemas.openxmlformats.org/officeDocument/2006/relationships/notesSlide" Target="/ppt/notesSlides/notesSlide8.xml" Id="R25d9c1e054cc44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0ca44eafe4cfc" /><Relationship Type="http://schemas.openxmlformats.org/officeDocument/2006/relationships/image" Target="/ppt/media/image.png" Id="R3197e0b2acfb4b1a" /><Relationship Type="http://schemas.openxmlformats.org/officeDocument/2006/relationships/notesSlide" Target="/ppt/notesSlides/notesSlide9.xml" Id="Rba244c8db3154c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8f562bfb84795" /><Relationship Type="http://schemas.openxmlformats.org/officeDocument/2006/relationships/notesSlide" Target="/ppt/notesSlides/notesSlide10.xml" Id="R71b1e05ef8f8405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Peso ilustrativo</c:v>
          </c:tx>
          <c:spPr>
            <a:solidFill xmlns:a="http://schemas.openxmlformats.org/drawingml/2006/main">
              <a:srgbClr val="2A78D6"/>
            </a:solidFill>
          </c:spPr>
          <c:cat>
            <c:strRef>
              <c:f>'Chart Data'!$A$2:$A$3</c:f>
              <c:strCache>
                <c:ptCount val="2"/>
                <c:pt idx="0">
                  <c:v>Preferência do pedido</c:v>
                </c:pt>
                <c:pt idx="1">
                  <c:v>Histórico do perfil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28D78-B069-4847-B36B-84AA00AF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08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MelodIA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3BA2D-A064-4CF6-8D81-59504B0E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Arquitetura do agente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 uso responsável de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DC9A0-19C4-47B4-AD21-5E1C0FC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01069-9A04-4B0A-B223-AEC469E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DC5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DC56A"/>
                </a:solidFill>
                <a:latin typeface="Arial"/>
                <a:ea typeface="Arial"/>
                <a:cs typeface="Arial"/>
              </a:rPr>
              <a:t>Apresentação técnica · 8 minutos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273DF-2FFA-487D-881E-47208C7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625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E9665-88AC-4345-88A1-FB00EC4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8</a:t>
            </a:r>
          </a:p>
        </p:txBody>
      </p:sp>
    </p:spTree>
    <p:extLst>
      <p:ext uri="{BB962C8B-B14F-4D97-AF65-F5344CB8AC3E}">
        <p14:creationId xmlns:p14="http://schemas.microsoft.com/office/powerpoint/2010/main" val="493446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6D4F7-3A77-44CC-96A0-558B9165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81E23-766D-413B-B3C7-22BB58F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Componentes atuais do sistema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1D113-5DF1-4EC6-AFB5-80B2FBCD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4D27C-F47E-4DDB-82A1-4F149915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3757D-3843-4A54-80E0-3A698B63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012A3-4C2B-418E-A23A-34987CA8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React / experiência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86EE7-D6DF-4EE1-9568-9F8A8D59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48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78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49B05-ADE6-4848-A91E-C3835A66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5EA62-D493-4845-B2BC-2BA4B65D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220AC-0CAC-4AEB-B47A-D54E542A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289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FastAPI / sessões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29FB1-FF17-460C-B800-CD8585A7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48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78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65ED3-41B9-42A5-AA61-A5690F02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8FA01-D7F6-47C7-B00A-834A951D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Agente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584B9-3884-43D4-9C5A-D83221C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interpretação + regras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975CD-127B-4AE0-91B2-E376D697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78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BE150-2CDD-4E0B-AD2C-87AD01E9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321B7-DB9F-45D9-A685-11E5B843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765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DDF853-68AC-4550-B2A5-8027F160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289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CSV processado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F7DE-F594-48FF-86B7-362F28E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572000"/>
            <a:ext cx="8343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7150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E8BDB-8041-4D00-9648-6E615472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05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4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e Spotify são integrações opcionais; o núcleo local continua utilizável.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B4A2B-4C1C-42B2-9D41-9E9AAAF5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Separar componentes deixa falhas isoladas e caminhos de contingência claros</a:t>
            </a:r>
          </a:p>
        </p:txBody>
      </p:sp>
    </p:spTree>
    <p:extLst>
      <p:ext uri="{BB962C8B-B14F-4D97-AF65-F5344CB8AC3E}">
        <p14:creationId xmlns:p14="http://schemas.microsoft.com/office/powerpoint/2010/main" val="14398048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B428CE-3FB1-46D9-95F9-357CF17B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71928-1C4F-4EE5-9578-E2C1FDB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Fluxo completo de uma mensagem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16BC7-650F-4254-99AE-7065B93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D4E93-F404-4732-B849-5F0DFF4D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C4532-C45A-4959-809F-E9D39138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0AB1C-7296-4AE2-B790-8821AFB5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Receber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41596-1878-4383-8383-856970DA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14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8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2BEB-B0A1-4E5C-8C56-C0108ECC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A9689-30C9-4F4A-92A8-62C3A3F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C22B2-FAE6-4DED-820E-A5A20D86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956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0C10F-AC34-46D9-BD9C-4BF5995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14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8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07B1A-28FD-4898-A85F-EEB6F14F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06972-EFF8-47A0-A89D-8CD29139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52535-B032-407C-AFA2-8D833D3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1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Interpretar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553E1-895E-4384-9D11-0F67D3D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8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4D0C8-07E1-45D4-B75E-5BA5FF20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FD454-73EA-45D0-A4AB-E744771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A31AE1-9438-4C26-B012-DFA1CCE1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Buscar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42E1A-31A1-446C-B3C6-50A1E4B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14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8D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E6E10A-B23F-4AC8-9928-09815566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4FC4E-E14C-4C6F-B026-B57B5E9A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F3B66-1A62-4D2F-B813-77F68850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9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Diversificar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DE028-5EF5-4838-A28A-AF0F2134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276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78D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D6CA1-59C4-4506-9E08-64816CE5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1600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685CE-0823-416E-AC08-D8949109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52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103760-8B22-4C25-B270-B17B79EF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95600"/>
            <a:ext cx="125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Explicar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6577F5-9A8A-4246-9F42-68014822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672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Entrada e saída são registradas com identificadores técnicos, sem precisar guardar a conversa inteira.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A3D4F-88D7-4136-A736-74E16BA2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34000"/>
            <a:ext cx="39624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6B5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0127E-3FF0-4C26-9FC2-4DD86CA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62575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FALLBACK EM CADA FRONTEIRA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A79251-E0E9-4C82-8D60-976BF107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Cada etapa tem uma responsabilidade específica</a:t>
            </a:r>
          </a:p>
        </p:txBody>
      </p:sp>
    </p:spTree>
    <p:extLst>
      <p:ext uri="{BB962C8B-B14F-4D97-AF65-F5344CB8AC3E}">
        <p14:creationId xmlns:p14="http://schemas.microsoft.com/office/powerpoint/2010/main" val="6495816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40E49-3F81-4D24-BF85-D1A2B131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C5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C56A"/>
                </a:solidFill>
                <a:latin typeface="Arial"/>
                <a:ea typeface="Arial"/>
                <a:cs typeface="Arial"/>
              </a:rPr>
              <a:t>RESPONSABILIDADES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0888F-2D00-466F-90E2-258FBEE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é regra e onde o LLM entra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2D188-EF4E-493D-9EA9-AAAECB75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883CB-F1B4-49E5-B017-152B9D50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DC56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DC56A"/>
                </a:solidFill>
                <a:latin typeface="Arial"/>
                <a:ea typeface="Arial"/>
                <a:cs typeface="Arial"/>
              </a:rPr>
              <a:t>Determinístico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F526D-4952-4E0E-9F24-1B923B9C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86000"/>
            <a:ext cx="342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valida o contrato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filtra o catálogo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calcula o ranking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aplica diversidade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monta 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93011-C616-401D-9E00-58157D54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81150"/>
            <a:ext cx="190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27CD4-61EA-4257-9F8E-7C3C59D6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LLM opcional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A6407-473B-427B-9931-EE3551B4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converte texto livre em estrutura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recebe contexto limitado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devolve JSON esperado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cai para regras se falhar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A216D-D25B-4C7E-8939-BBE82EBC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381625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central: o LLM interpreta; o código decide.</a:t>
            </a:r>
          </a:p>
        </p:txBody>
      </p:sp>
    </p:spTree>
    <p:extLst>
      <p:ext uri="{BB962C8B-B14F-4D97-AF65-F5344CB8AC3E}">
        <p14:creationId xmlns:p14="http://schemas.microsoft.com/office/powerpoint/2010/main" val="240946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FB7859-8263-4F03-B0CC-60DDB1D6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17E7B-7030-4BE5-936A-C369E1BA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Extração estruturada e contrato 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1984C-C40C-4CF2-8FE5-9B965AB5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DE11D-DDC6-41E6-895D-908207C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7150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7150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22B61-EA53-4163-ABB8-EA2652B9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"generos": ["pagode"],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"mood": "animado",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"energia": "alta",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"limite": 3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FBD68-110C-4078-A602-398F6E3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14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Validação antes de usar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2CB4F-3C83-4186-BA81-56BA16E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0EE4F-E0AC-4C50-9F49-35A3526C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98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E08AC1-3349-409A-BAB0-969D8F65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campos conhecidos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0B9D0-26A9-4777-8E72-CCEE13C4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67050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B7359-9B3C-4BDB-808A-65D18CED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956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2FAE5-8CCB-4609-8513-79AE9585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384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tipos e limites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217CC-C6F1-4D31-A339-87C2BB0A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C79CF-F60D-4C6F-AC70-14166A0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814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ACC7E-D946-4E10-BCB4-13AE4F3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242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normalização de gênero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F8587-B8F7-4894-967F-DE07EB8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6B5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B32F9-9B86-4615-9A65-B4A6E6D2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672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7B650-E9DB-4968-8BAA-723D2E48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fallback seguro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E261A-D184-4E78-A43B-FAC05AA3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O JSON é uma proposta do modelo; a aplicação valida antes de confiar</a:t>
            </a:r>
          </a:p>
        </p:txBody>
      </p:sp>
    </p:spTree>
    <p:extLst>
      <p:ext uri="{BB962C8B-B14F-4D97-AF65-F5344CB8AC3E}">
        <p14:creationId xmlns:p14="http://schemas.microsoft.com/office/powerpoint/2010/main" val="1202384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69F1F8-FD6E-4E3F-A402-8D3A08C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RECOMENDAÇÃO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29A8E-0331-471A-8603-0DEB1B41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Similaridade por cosseno e perfil do usuário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5F827-9CAC-4363-86CD-F19E3F26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58102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8fcd83f9d6428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76EE7-9D5C-4E6C-ADB4-389C0AC1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95450"/>
            <a:ext cx="44958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905E8-8D19-4710-A086-DE1820FC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381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3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cos(θ) = (u · faixa) / (|u| |faixa|)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E94BC-2BC0-4159-93B7-5AE1CE58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3524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67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221D"/>
                </a:solidFill>
                <a:latin typeface="Arial"/>
                <a:ea typeface="Arial"/>
                <a:cs typeface="Arial"/>
              </a:rPr>
              <a:t>O sistema compara vetores normalizados em memória. Não depende de um serviço externo de k-NN.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8AFA9-9611-4450-9F61-C50E41E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128.830 registros · 97.534 faixas únicas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66E47-7B42-4E4C-B833-22F731DF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Os pesos exibidos são didáticos; a implementação real usa seus parâmetros configurados</a:t>
            </a:r>
          </a:p>
        </p:txBody>
      </p:sp>
    </p:spTree>
    <p:extLst>
      <p:ext uri="{BB962C8B-B14F-4D97-AF65-F5344CB8AC3E}">
        <p14:creationId xmlns:p14="http://schemas.microsoft.com/office/powerpoint/2010/main" val="1588782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A6253-A531-4EEE-AFAB-17B0B1D0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CONFIABILIDADE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00FCD-C2FF-4D7C-8FC9-04D90D28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58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Fallback, auditoria, diversidade e observabilidade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53569-EFB2-4F30-9059-CFC296E0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34919-085F-4B5D-8658-268ADFD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31623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AB47B-2882-49A3-ADD5-9B28957F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67376-B720-47B1-A794-AFD955B6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Fallback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08F98-8BA0-4C72-BCEC-B23995FC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regras locais quando integração falha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7A713F-8740-4126-95FA-83B17F25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476500" cy="31623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E1BC4-3B59-493C-B6FB-4108E10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60253-4450-4ACA-A5BE-51E9D071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9075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356CA-5782-4AFF-B72B-CCF4249A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52750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IDs, origem e decisões do fluxo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67408-9149-4E31-B565-B752ADC8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476500" cy="31623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A77FA-5C56-4082-9426-5C56D66F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B95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DDD52-DC99-4DD2-94E7-BD6DA7C6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Diversidade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6440C-F109-492D-A1D8-4D2FE754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52750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limites para evitar repetição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1161F-C3D5-49E7-AF2D-801D0C34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09750"/>
            <a:ext cx="2476500" cy="31623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F6B130-0585-42BF-919B-225CDAB3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09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C5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1A391-FE55-4AF3-A09D-01E8C928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9075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Observabilidade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193B1-83DD-4765-86BE-96D79AB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52750"/>
            <a:ext cx="2019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tempo, erro e estágio atingido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0A790-68D0-45B0-8C2E-2F110C07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911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Falhar com clareza é parte da arquitetura.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BF63E-E3F9-437B-BE8C-A085A76A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Controles pensados para operação e investigação de problemas</a:t>
            </a:r>
          </a:p>
        </p:txBody>
      </p:sp>
    </p:spTree>
    <p:extLst>
      <p:ext uri="{BB962C8B-B14F-4D97-AF65-F5344CB8AC3E}">
        <p14:creationId xmlns:p14="http://schemas.microsoft.com/office/powerpoint/2010/main" val="1122067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3B05D-8E12-4E1C-9DD5-DFDF5F95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INTEGRAÇÃO SPOTIFY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79BE0-5CE3-4AC8-AEA7-6E70022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OAuth, PKCE, tokens e privacidade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3A085-8085-4778-A3B5-6FE6A0DB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695C2-8AE9-4DF4-8B4B-07E7244A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12D2C-9B27-437B-A1AC-4564642C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64AFE-BC8F-4D88-A958-951B86F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Usuário autoriza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4709D-64E4-4E80-A5DB-BB0385B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05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78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11C0F-A5D4-4EF4-A052-9AE84D0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0955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9A1FB-AFD3-4DC9-AC6C-7AAF27E1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305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A2CD4-058B-4DC9-A023-5CDC4B08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781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PKCE protege o código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8E629-289D-44CD-B4DC-6568C87F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905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78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82E7-4C13-418E-8F85-DFE36A3A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2940C-CB31-4CB6-8219-F5B1BCFF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982FA-853A-4552-8220-83BBB641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Backend troca por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0CB666-9999-423E-A617-E16BF5E0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78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403B8-E208-4797-A9A6-93713424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0955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DB954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B6E69E-38A9-4F85-BDBC-76F9C2BF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3050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0649C-19B5-42D6-98EF-CFE49F8C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781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Token fica no servidor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1DB57-5BE7-41D2-93F3-90CFA4DA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29125"/>
            <a:ext cx="861060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7150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4234E-8C99-4BB3-A940-479150D3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00575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09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 autorização, a recomendação local continua disponível.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72CED-F190-40EC-9E46-8EC2759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PKCE reduz o risco de interceptação; segredos não vão para o navegador</a:t>
            </a:r>
          </a:p>
        </p:txBody>
      </p:sp>
    </p:spTree>
    <p:extLst>
      <p:ext uri="{BB962C8B-B14F-4D97-AF65-F5344CB8AC3E}">
        <p14:creationId xmlns:p14="http://schemas.microsoft.com/office/powerpoint/2010/main" val="1772054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54BB4-E81E-47D9-A64B-30E5650B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78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A78D6"/>
                </a:solidFill>
                <a:latin typeface="Arial"/>
                <a:ea typeface="Arial"/>
                <a:cs typeface="Arial"/>
              </a:rPr>
              <a:t>DEMONSTRAÇÃO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075F6-3C7B-457C-A5EF-F302B5A4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Notebook: perfil e correlação em dois passos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8BD1D-276E-4ED3-BC8A-B6177FD6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665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7e0b2acfb4b1a"/>
          <a:stretch xmlns:a="http://schemas.openxmlformats.org/drawingml/2006/main"/>
        </p:blipFill>
        <p:spPr>
          <a:xfrm xmlns:a="http://schemas.openxmlformats.org/drawingml/2006/main">
            <a:off x="1541859" y="1524000"/>
            <a:ext cx="4822031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32C50-7642-47F5-A11F-52D2A042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4136D-E51C-4392-B682-51C50FD1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0250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8C875-0FEA-4B9F-86B0-515EECD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2882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4628C-F9A7-4F63-BA63-75A45739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Perfil do conjunto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492AE-D579-4C40-A4AB-7653FC99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21D"/>
                </a:solidFill>
                <a:latin typeface="Arial"/>
                <a:ea typeface="Arial"/>
                <a:cs typeface="Arial"/>
              </a:rPr>
              <a:t>128.830 registros</a:t>
            </a:r>
          </a:p>
          <a:p xmlns:a="http://schemas.openxmlformats.org/drawingml/2006/main">
            <a:pPr algn="ctr">
              <a:defRPr sz="1950" b="0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21D"/>
                </a:solidFill>
                <a:latin typeface="Arial"/>
                <a:ea typeface="Arial"/>
                <a:cs typeface="Arial"/>
              </a:rPr>
              <a:t>97.534 faixas únicas</a:t>
            </a:r>
          </a:p>
          <a:p xmlns:a="http://schemas.openxmlformats.org/drawingml/2006/main">
            <a:pPr algn="ctr">
              <a:defRPr sz="1950" b="0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221D"/>
                </a:solidFill>
                <a:latin typeface="Arial"/>
                <a:ea typeface="Arial"/>
                <a:cs typeface="Arial"/>
              </a:rPr>
              <a:t>118 gêneros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41520-3F79-4BC3-9242-6017235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4191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E03DE-A87A-4530-9D24-518D329B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9075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8A36F-7CFE-46C8-A100-C3D034A2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21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221D"/>
                </a:solidFill>
                <a:latin typeface="Arial"/>
                <a:ea typeface="Arial"/>
                <a:cs typeface="Arial"/>
              </a:rPr>
              <a:t>Correlação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D05B6-6F54-410E-8961-485DAF69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reexecutar apenas</a:t>
            </a:r>
          </a:p>
          <a:p xmlns:a="http://schemas.openxmlformats.org/drawingml/2006/main">
            <a:pPr algn="ctr">
              <a:defRPr sz="1725" b="0">
                <a:solidFill>
                  <a:srgbClr val="6966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665E"/>
                </a:solidFill>
                <a:latin typeface="Arial"/>
                <a:ea typeface="Arial"/>
                <a:cs typeface="Arial"/>
              </a:rPr>
              <a:t>as células selecionadas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4DAB0-341A-4CF0-8012-949E108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19750"/>
            <a:ext cx="4048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66B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33695-FA7D-4CFC-82AA-ACF56CB5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48325"/>
            <a:ext cx="3819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PLANO B: IMAGEM JÁ GERADA</a:t>
            </a:r>
          </a:p>
        </p:txBody>
      </p:sp>
    </p:spTree>
    <p:extLst>
      <p:ext uri="{BB962C8B-B14F-4D97-AF65-F5344CB8AC3E}">
        <p14:creationId xmlns:p14="http://schemas.microsoft.com/office/powerpoint/2010/main" val="8529782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5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D5E08-9DEA-4D3E-BC3B-95327455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C5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DC56A"/>
                </a:solidFill>
                <a:latin typeface="Arial"/>
                <a:ea typeface="Arial"/>
                <a:cs typeface="Arial"/>
              </a:rPr>
              <a:t>FECHAMENTO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826F6-3D14-48AE-A3B6-286CEAF9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Testes, limitações e evolução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63126-57BB-45D6-B6D1-B3F90825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91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461A5-EFDA-4C0D-B522-89D72386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Evidências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D5BB5-63D6-4A02-83EB-75026805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19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testes do pipeline</a:t>
            </a:r>
          </a:p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validação do notebook</a:t>
            </a:r>
          </a:p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prévia da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3733D-440F-4598-8AAE-36A52935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DC5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DC56A"/>
                </a:solidFill>
                <a:latin typeface="Arial"/>
                <a:ea typeface="Arial"/>
                <a:cs typeface="Arial"/>
              </a:rPr>
              <a:t>Limitações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257E0-1FAD-4776-A6AE-C6C5712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819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LLM e rede variam</a:t>
            </a:r>
          </a:p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OAuth exige configuração</a:t>
            </a:r>
          </a:p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avaliação humana pendente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0CB36-4F23-43B0-B1DA-5815038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Evolução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A2D34-91E4-4DEB-B349-34255F2A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819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métricas de qualidade</a:t>
            </a:r>
          </a:p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feedback do usuário</a:t>
            </a:r>
          </a:p>
          <a:p xmlns:a="http://schemas.openxmlformats.org/drawingml/2006/main">
            <a:pPr algn="ctr">
              <a:defRPr sz="1950" b="0">
                <a:solidFill>
                  <a:srgbClr val="D8D3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3C8"/>
                </a:solidFill>
                <a:latin typeface="Arial"/>
                <a:ea typeface="Arial"/>
                <a:cs typeface="Arial"/>
              </a:rPr>
              <a:t>testes de carga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CF2B0-EDE5-40DB-88FB-D46AD1DF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2549E-0B50-4A13-A957-D11CDE08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816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9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objetivo não é esconder limites — é controlá-los e medi-los.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EFD31-D0BD-4AFA-A787-700F2D42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000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C56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C56A"/>
                </a:solidFill>
                <a:latin typeface="Arial"/>
                <a:ea typeface="Arial"/>
                <a:cs typeface="Arial"/>
              </a:rPr>
              <a:t>Perguntas?</a:t>
            </a:r>
          </a:p>
        </p:txBody>
      </p:sp>
    </p:spTree>
    <p:extLst>
      <p:ext uri="{BB962C8B-B14F-4D97-AF65-F5344CB8AC3E}">
        <p14:creationId xmlns:p14="http://schemas.microsoft.com/office/powerpoint/2010/main" val="226970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2026-09-04T14:03:45.8760000Z</dcterms:created>
  <dcterms:modified xsi:type="dcterms:W3CDTF">2026-09-04T14:03:45.8760000Z</dcterms:modified>
</coreProperties>
</file>