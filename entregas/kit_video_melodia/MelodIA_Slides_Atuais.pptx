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Fraunces"/>
      <p:regular r:id="rId201314"/>
    </p:embeddedFont>
    <p:embeddedFont>
      <p:font typeface="Fraunces SemiBold"/>
      <p:regular r:id="rId201315"/>
    </p:embeddedFont>
    <p:embeddedFont>
      <p:font typeface="Fraunces Bold"/>
      <p:regular r:id="rId201316"/>
    </p:embeddedFont>
    <p:embeddedFont>
      <p:font typeface="Fraunces ExtraBold"/>
      <p:regular r:id="rId201317"/>
    </p:embeddedFont>
    <p:embeddedFont>
      <p:font typeface="Fraunces Black"/>
      <p:regular r:id="rId201318"/>
    </p:embeddedFont>
    <p:embeddedFont>
      <p:font typeface="Nobile"/>
      <p:regular r:id="rId201319"/>
    </p:embeddedFont>
    <p:embeddedFont>
      <p:font typeface="Nobile 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pessoa pode começar a usar o MelodIA sem conectar uma conta. Ela descreve o que quer ouvir, recebe uma lista explicada e pode pedir uma nova seleção. Quando decide conectar o Spotify, pode aproveitar recursos adicionais, como salvar a recomendação em uma playlist.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já reúne uma experiência de conversa, um mecanismo de recomendação, um catálogo conhecido e verificações automatizadas. O próximo passo é observar pessoas reais usando o produto. O feedback ajudará o grupo a melhorar a personalização sem perder a clareza e o controle das recomendações.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MelodIA já reúne produto, dados, Inteligência Artificial e mecanismos de verificação. Agora queremos aprender com o uso real. Para encerrar, fica uma pergunta: o que vocês pediriam ao MelodIA?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conjunto de dados mostra que cada gênero possui características diferentes. A música clássica aparece com energia média mais baixa, enquanto o death metal aparece no extremo mais alto. Chicago house se destaca em dançabilidade. Esses sinais ajudam o MelodIA a relacionar o pedido da pessoa com as músicas do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>
              <a:alpha val="7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5.png"/><Relationship Id="rId8" Type="http://schemas.openxmlformats.org/officeDocument/2006/relationships/image" Target="../media/image-6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2.png"/><Relationship Id="rId5" Type="http://schemas.openxmlformats.org/officeDocument/2006/relationships/image" Target="../media/image-12-3.svg"/><Relationship Id="rId6" Type="http://schemas.openxmlformats.org/officeDocument/2006/relationships/image" Target="../media/image-12-2.png"/><Relationship Id="rId7" Type="http://schemas.openxmlformats.org/officeDocument/2006/relationships/image" Target="../media/image-1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1.png"/><Relationship Id="rId4" Type="http://schemas.openxmlformats.org/officeDocument/2006/relationships/image" Target="../media/image-13-2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1.png"/><Relationship Id="rId10" Type="http://schemas.openxmlformats.org/officeDocument/2006/relationships/image" Target="../media/image-14-2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.png"/><Relationship Id="rId14" Type="http://schemas.openxmlformats.org/officeDocument/2006/relationships/image" Target="../media/image-14-2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5697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MelodIA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731095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Recomendações musicais por conversa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Você descreve o que quer ouvir. O MelodIA encontra faixas reais e explica a escolha.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110831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439608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38951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Grupo 8 · Residência em Inteligência Artificial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Lucas · Felipe · Eduarda · Ruan · Rebeca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4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Como você escolhe o que ouvir?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1608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Você já sabia o clima que queria, mas não sabia qual música colocar?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231132"/>
            <a:ext cx="5339820" cy="1845171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/>
        </p:spPr>
      </p:sp>
      <p:sp>
        <p:nvSpPr>
          <p:cNvPr id="5" name="Shape 3"/>
          <p:cNvSpPr/>
          <p:nvPr/>
        </p:nvSpPr>
        <p:spPr>
          <a:xfrm>
            <a:off x="850482" y="2420144"/>
            <a:ext cx="567021" cy="56703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450" y="2576016"/>
            <a:ext cx="255085" cy="2550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482" y="317619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Estudar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482" y="3584873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Foco e concentração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90301" y="2231132"/>
            <a:ext cx="5339919" cy="1845171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/>
        </p:spPr>
      </p:sp>
      <p:sp>
        <p:nvSpPr>
          <p:cNvPr id="10" name="Shape 7"/>
          <p:cNvSpPr/>
          <p:nvPr/>
        </p:nvSpPr>
        <p:spPr>
          <a:xfrm>
            <a:off x="6379308" y="2420144"/>
            <a:ext cx="567021" cy="56703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5276" y="2576016"/>
            <a:ext cx="255085" cy="2550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79308" y="3176191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Treinar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379308" y="3584873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Energia e motivação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61475" y="4265315"/>
            <a:ext cx="5339820" cy="1845171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482" y="4454327"/>
            <a:ext cx="567021" cy="56703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450" y="4610199"/>
            <a:ext cx="255085" cy="2550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482" y="5210373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Descansar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850482" y="5619055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Calma e relaxamento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190301" y="4265315"/>
            <a:ext cx="5339919" cy="1845171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/>
        </p:spPr>
      </p:sp>
      <p:sp>
        <p:nvSpPr>
          <p:cNvPr id="20" name="Shape 15"/>
          <p:cNvSpPr/>
          <p:nvPr/>
        </p:nvSpPr>
        <p:spPr>
          <a:xfrm>
            <a:off x="6379308" y="4454327"/>
            <a:ext cx="567021" cy="56703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276" y="4610199"/>
            <a:ext cx="255085" cy="2550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79308" y="5210373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Encontrar amigos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6379308" y="5619055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Alegria e celebração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026319"/>
            <a:ext cx="3504219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Descobrir música ainda dá trabalho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315712" y="3180953"/>
            <a:ext cx="32207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"Quero um pagode animado para o churrasco de domingo."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32251" y="3010892"/>
            <a:ext cx="25399" cy="944959"/>
          </a:xfrm>
          <a:prstGeom prst="roundRect">
            <a:avLst>
              <a:gd name="adj" fmla="val 50001"/>
            </a:avLst>
          </a:prstGeom>
          <a:solidFill>
            <a:srgbClr val="438951"/>
          </a:solidFill>
          <a:ln/>
        </p:spPr>
      </p:sp>
      <p:sp>
        <p:nvSpPr>
          <p:cNvPr id="6" name="Text 3"/>
          <p:cNvSpPr/>
          <p:nvPr/>
        </p:nvSpPr>
        <p:spPr>
          <a:xfrm>
            <a:off x="8032251" y="4168477"/>
            <a:ext cx="350421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Esse pedido mistura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A78D6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gênero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DB954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energia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DC56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contexto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desejo é simples. Encontrar a combinação certa pode exigir várias buscas.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3605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 Brasil cresce acima da média mundial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705630" y="1872754"/>
            <a:ext cx="5352321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14,1%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5233360" y="2585641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 Brasil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233360" y="2918520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Crescimento das receitas de música gravada em 2025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05630" y="3509566"/>
            <a:ext cx="5352321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6,4%</a:t>
            </a:r>
            <a:endParaRPr lang="en-US" sz="4150" dirty="0"/>
          </a:p>
        </p:txBody>
      </p:sp>
      <p:sp>
        <p:nvSpPr>
          <p:cNvPr id="8" name="Text 5"/>
          <p:cNvSpPr/>
          <p:nvPr/>
        </p:nvSpPr>
        <p:spPr>
          <a:xfrm>
            <a:off x="5233360" y="4222452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 mundo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233360" y="4555331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Média global no mesmo período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33360" y="4946650"/>
            <a:ext cx="3080169" cy="936327"/>
          </a:xfrm>
          <a:prstGeom prst="roundRect">
            <a:avLst>
              <a:gd name="adj" fmla="val 15443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13041" y="5126335"/>
            <a:ext cx="2720808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🇧🇷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8º maior mercado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13041" y="5465564"/>
            <a:ext cx="272080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musical do mundo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50051" y="4946650"/>
            <a:ext cx="3080169" cy="936327"/>
          </a:xfrm>
          <a:prstGeom prst="roundRect">
            <a:avLst>
              <a:gd name="adj" fmla="val 15443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29732" y="5126335"/>
            <a:ext cx="272080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~86% da receita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629732" y="5459214"/>
            <a:ext cx="272080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vem do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DB954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streaming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 Brasil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28568" y="6036568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DC56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Fontes: Pró-Música Brasil e IFPI Global Music Report 2026. Dados de 2025.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909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 conversa como ponto de partida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56682" y="1354733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pessoa fala do seu jeito. O MelodIA transforma esse pedido em uma seleção musical.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4095" y="1792287"/>
            <a:ext cx="11265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"Algo calmo, sem conteúdo explícito, para estudar à noite."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1672729"/>
            <a:ext cx="19050" cy="437555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846" y="2229842"/>
            <a:ext cx="7417904" cy="39290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83476" y="5037934"/>
            <a:ext cx="1964481" cy="45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Pedido em linguagem natural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83476" y="5561673"/>
            <a:ext cx="1964481" cy="320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1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Usuário descreve o que deseja musicalmente.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66155" y="2505850"/>
            <a:ext cx="1964481" cy="45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Interpretação do motivo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566155" y="3029589"/>
            <a:ext cx="1964481" cy="320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1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MelodIA identifica intenção, tom e restrições.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967898" y="2505850"/>
            <a:ext cx="1964481" cy="45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Mapeamento de faixas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67898" y="3029589"/>
            <a:ext cx="1964481" cy="320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Busca por músicas compatíveis ao pedido.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60765" y="5038061"/>
            <a:ext cx="1964481" cy="45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Seleção musical explicada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60765" y="5561800"/>
            <a:ext cx="1964481" cy="320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Lista de faixas com justificativa breve.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4638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Do pedido à recomendação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44948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Quatro etapas simples, do primeiro palavrão até a playlist na sua tela.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2776" y="1098252"/>
            <a:ext cx="2507394" cy="20849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44693" y="122991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47182" y="1879699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Pedido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547182" y="2363986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Você descreve o que quer ouvir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1098252"/>
            <a:ext cx="2507394" cy="20849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1093" y="122991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243583" y="1879699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Entendimento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243583" y="2363986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sistema identifica as preferências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2776" y="3372247"/>
            <a:ext cx="2507394" cy="2387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44693" y="350391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547182" y="4153694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Catálogo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6547182" y="4637980"/>
            <a:ext cx="20785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 músicas compatíveis são procuradas</a:t>
            </a:r>
            <a:endParaRPr lang="en-US" sz="14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29176" y="3372247"/>
            <a:ext cx="2507394" cy="2387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141093" y="350391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243583" y="4153694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Resposta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9243583" y="4637980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 sugestões chegam com uma explicação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317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Mais liberdade para descobrir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56682" y="1450975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experiência começa com uma conversa e pode crescer conforme a pessoa desejar.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18928"/>
            <a:ext cx="3688662" cy="368875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272" y="2054027"/>
            <a:ext cx="340213" cy="3402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2773" y="2054027"/>
            <a:ext cx="582369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Peça músicas com suas próprias palavras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272" y="2700437"/>
            <a:ext cx="340213" cy="3402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2773" y="2700437"/>
            <a:ext cx="582369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Comece sem conectar uma conta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81272" y="3346847"/>
            <a:ext cx="340213" cy="3402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712773" y="3346847"/>
            <a:ext cx="582369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Entenda o motivo das recomendações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81272" y="3993257"/>
            <a:ext cx="340213" cy="34022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712773" y="3993257"/>
            <a:ext cx="582369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Conecte o Spotify para salvar uma playlist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5181272" y="4505722"/>
            <a:ext cx="635519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5181272" y="5195094"/>
            <a:ext cx="6355199" cy="877491"/>
          </a:xfrm>
          <a:prstGeom prst="roundRect">
            <a:avLst>
              <a:gd name="adj" fmla="val 17448"/>
            </a:avLst>
          </a:prstGeom>
          <a:solidFill>
            <a:srgbClr val="DDEEE0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1329" y="5413276"/>
            <a:ext cx="212620" cy="17006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734006" y="5375275"/>
            <a:ext cx="563240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Também é possível pedir outra seleção sem repetir as faixas já mostradas.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90959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 que você pediria?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233360" y="1452166"/>
            <a:ext cx="6296860" cy="956171"/>
          </a:xfrm>
          <a:prstGeom prst="roundRect">
            <a:avLst>
              <a:gd name="adj" fmla="val 16012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5403417" y="1622227"/>
            <a:ext cx="595674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🥁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Pagode animado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403417" y="1979712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 um churrasco de domingo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2561431"/>
            <a:ext cx="6296860" cy="956171"/>
          </a:xfrm>
          <a:prstGeom prst="roundRect">
            <a:avLst>
              <a:gd name="adj" fmla="val 16012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5403417" y="2731492"/>
            <a:ext cx="595674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🎧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Lo-fi calmo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403417" y="3088977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 estudar na madrugada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3670697"/>
            <a:ext cx="6296860" cy="956171"/>
          </a:xfrm>
          <a:prstGeom prst="roundRect">
            <a:avLst>
              <a:gd name="adj" fmla="val 16012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5403417" y="3840758"/>
            <a:ext cx="595674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🎸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Rock energético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403417" y="4198243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 acelerar na estrada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779963"/>
            <a:ext cx="6296860" cy="956171"/>
          </a:xfrm>
          <a:prstGeom prst="roundRect">
            <a:avLst>
              <a:gd name="adj" fmla="val 16012"/>
            </a:avLst>
          </a:prstGeom>
          <a:solidFill>
            <a:srgbClr val="E8F3E8"/>
          </a:solidFill>
          <a:ln/>
        </p:spPr>
      </p:sp>
      <p:sp>
        <p:nvSpPr>
          <p:cNvPr id="14" name="Text 11"/>
          <p:cNvSpPr/>
          <p:nvPr/>
        </p:nvSpPr>
        <p:spPr>
          <a:xfrm>
            <a:off x="5403417" y="4950023"/>
            <a:ext cx="595674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💃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Pop dançante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403417" y="5307509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 arrasar no treino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28568" y="5908377"/>
            <a:ext cx="690644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EDC56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Qual desses você gostaria de testar?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 produto já funciona e pode evoluir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975335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49020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uso real mostrará onde o MelodIA pode melhorar.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913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Vamos transformar um pedido em música?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65475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DB954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"Quero um pagode animado."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356682" y="426412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Demonstração ao vivo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169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 que você pediria ao MelodIA?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91023"/>
            <a:ext cx="10868745" cy="214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Experimente o produto e compartilhe sua percepção.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Grupo 8 · Residência em Inteligência Artificial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Obrigado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59929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951805"/>
            <a:ext cx="3504219" cy="2953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 Inteligência Artificial ajuda a entender o pedido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4094063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IA interpreta a linguagem da pessoa e ajuda a escrever uma resposta clara.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075" y="5171678"/>
            <a:ext cx="3490825" cy="106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1281" y="5197078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Interpretar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01281" y="5605760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Compreende o que a pessoa realmente quer dizer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7735" y="5171678"/>
            <a:ext cx="3490825" cy="106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02940" y="5197078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Buscar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4602940" y="5605760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escolha das músicas consulta um catálogo conhecido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9395" y="5171678"/>
            <a:ext cx="3490825" cy="106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04600" y="5197078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Explicar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304600" y="5605760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Apresenta a resposta em linguagem humana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702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As músicas recomendadas precisam existir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65982"/>
            <a:ext cx="5215303" cy="14273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7954" y="1870869"/>
            <a:ext cx="4703942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Verificação antes da resposta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7954" y="2328267"/>
            <a:ext cx="470394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sistema confirma as faixas no catálogo antes de apresentar qualquer sugestão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63900"/>
            <a:ext cx="5215303" cy="14273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7954" y="3468787"/>
            <a:ext cx="4703942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Pedidos simples sempre funcionam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67954" y="3926185"/>
            <a:ext cx="470394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Mesmo quando a IA está indisponível, o MelodIA continua operando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861818"/>
            <a:ext cx="5215303" cy="11472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954" y="5066705"/>
            <a:ext cx="4703942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A78D6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97.534 faixas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únicas catalogadas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67954" y="5524103"/>
            <a:ext cx="470394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128.830 registros analisados · 118 gêneros mapeados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590540" y="1819473"/>
            <a:ext cx="494603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 catálogo funciona como fonte de verdade.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Nenhuma música sugerida é inventada. Toda faixa existe e pode ser tocada.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321267" y="1665982"/>
            <a:ext cx="25399" cy="1427361"/>
          </a:xfrm>
          <a:prstGeom prst="roundRect">
            <a:avLst>
              <a:gd name="adj" fmla="val 50001"/>
            </a:avLst>
          </a:prstGeom>
          <a:solidFill>
            <a:srgbClr val="438951"/>
          </a:solidFill>
          <a:ln/>
        </p:spPr>
      </p:sp>
      <p:sp>
        <p:nvSpPr>
          <p:cNvPr id="14" name="Shape 9"/>
          <p:cNvSpPr/>
          <p:nvPr/>
        </p:nvSpPr>
        <p:spPr>
          <a:xfrm>
            <a:off x="6321267" y="3285232"/>
            <a:ext cx="5215303" cy="956866"/>
          </a:xfrm>
          <a:prstGeom prst="roundRect">
            <a:avLst>
              <a:gd name="adj" fmla="val 16890"/>
            </a:avLst>
          </a:prstGeom>
          <a:solidFill>
            <a:srgbClr val="B6FCB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749" y="3534073"/>
            <a:ext cx="224427" cy="17948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4659" y="3483570"/>
            <a:ext cx="445242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MelodIA recomenda apenas o que realmente está lá.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36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Cada gênero tem um perfil diferente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66738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Os dados ajudam a aproximar o pedido da pessoa das músicas disponíveis.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41401"/>
            <a:ext cx="52499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Energia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61475" y="2245816"/>
            <a:ext cx="5249930" cy="761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Escala de </a:t>
            </a:r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0</a:t>
            </a:r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(baixa) a </a:t>
            </a:r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</a:t>
            </a:r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(alta)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43746"/>
            <a:ext cx="5249930" cy="91539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531" y="3487936"/>
            <a:ext cx="22680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06291" y="3314005"/>
            <a:ext cx="433485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Clássica: 0,19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406291" y="3671193"/>
            <a:ext cx="433485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Onda suave, ritmo contido.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80086"/>
            <a:ext cx="5249930" cy="915392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531" y="4524276"/>
            <a:ext cx="226808" cy="2268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06291" y="4350345"/>
            <a:ext cx="433485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Death metal: 0,93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406291" y="4707533"/>
            <a:ext cx="433485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Onda intensa, alta complexidade.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286640" y="1841401"/>
            <a:ext cx="52499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Outros sinais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286640" y="2245816"/>
            <a:ext cx="5249930" cy="761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640" y="3143746"/>
            <a:ext cx="5249930" cy="915392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94697" y="3487936"/>
            <a:ext cx="226808" cy="22681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031457" y="3314005"/>
            <a:ext cx="433485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Chicago house: 0,77 em dançabilidade</a:t>
            </a:r>
            <a:endParaRPr lang="en-US" sz="1450" dirty="0"/>
          </a:p>
        </p:txBody>
      </p:sp>
      <p:sp>
        <p:nvSpPr>
          <p:cNvPr id="19" name="Text 11"/>
          <p:cNvSpPr/>
          <p:nvPr/>
        </p:nvSpPr>
        <p:spPr>
          <a:xfrm>
            <a:off x="7031457" y="3671193"/>
            <a:ext cx="433485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Ritmo envolvente, ideal para mover o corpo.</a:t>
            </a:r>
            <a:endParaRPr lang="en-US" sz="11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6640" y="4180086"/>
            <a:ext cx="5249930" cy="915392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94697" y="4524276"/>
            <a:ext cx="226808" cy="22681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031457" y="4350345"/>
            <a:ext cx="433485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Chill: 53,7 de popularidade média</a:t>
            </a:r>
            <a:endParaRPr lang="en-US" sz="1450" dirty="0"/>
          </a:p>
        </p:txBody>
      </p:sp>
      <p:sp>
        <p:nvSpPr>
          <p:cNvPr id="23" name="Text 13"/>
          <p:cNvSpPr/>
          <p:nvPr/>
        </p:nvSpPr>
        <p:spPr>
          <a:xfrm>
            <a:off x="7031457" y="4707533"/>
            <a:ext cx="433485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Gênero com grande aceitação e busca.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356682" y="5367536"/>
            <a:ext cx="1147833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Energia e dançabilidade usam uma escala de 0 a 1. Popularidade usa uma escala de 0 a 100.</a:t>
            </a:r>
            <a:endParaRPr lang="en-US" sz="950" dirty="0"/>
          </a:p>
        </p:txBody>
      </p:sp>
      <p:sp>
        <p:nvSpPr>
          <p:cNvPr id="25" name="Text 15"/>
          <p:cNvSpPr/>
          <p:nvPr/>
        </p:nvSpPr>
        <p:spPr>
          <a:xfrm>
            <a:off x="356682" y="5677694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Diferentes momentos combinam com diferentes características musicais.</a:t>
            </a:r>
            <a:endParaRPr lang="en-US" sz="1150" dirty="0"/>
          </a:p>
        </p:txBody>
      </p:sp>
      <p:sp>
        <p:nvSpPr>
          <p:cNvPr id="26" name="Text 16"/>
          <p:cNvSpPr/>
          <p:nvPr/>
        </p:nvSpPr>
        <p:spPr>
          <a:xfrm>
            <a:off x="356682" y="6031409"/>
            <a:ext cx="1147833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DC56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Fonte: analise_exploratoria.ipynb.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2026-09-04T13:55:31Z</dcterms:created>
  <dcterms:modified xsi:type="dcterms:W3CDTF">2026-09-04T13:55:31Z</dcterms:modified>
</cp:coreProperties>
</file>